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20"/>
  </p:notesMasterIdLst>
  <p:handoutMasterIdLst>
    <p:handoutMasterId r:id="rId21"/>
  </p:handoutMasterIdLst>
  <p:sldIdLst>
    <p:sldId id="490" r:id="rId6"/>
    <p:sldId id="515" r:id="rId7"/>
    <p:sldId id="491" r:id="rId8"/>
    <p:sldId id="494" r:id="rId9"/>
    <p:sldId id="495" r:id="rId10"/>
    <p:sldId id="493" r:id="rId11"/>
    <p:sldId id="516" r:id="rId12"/>
    <p:sldId id="508" r:id="rId13"/>
    <p:sldId id="512" r:id="rId14"/>
    <p:sldId id="513" r:id="rId15"/>
    <p:sldId id="509" r:id="rId16"/>
    <p:sldId id="510" r:id="rId17"/>
    <p:sldId id="517" r:id="rId18"/>
    <p:sldId id="518" r:id="rId19"/>
  </p:sldIdLst>
  <p:sldSz cx="9144000" cy="6858000" type="screen4x3"/>
  <p:notesSz cx="7010400" cy="9296400"/>
  <p:defaultTextStyle>
    <a:defPPr>
      <a:defRPr lang="en-U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917853B9-9D94-4867-9021-5FAB44009E2F}">
          <p14:sldIdLst>
            <p14:sldId id="490"/>
            <p14:sldId id="515"/>
            <p14:sldId id="491"/>
            <p14:sldId id="494"/>
            <p14:sldId id="495"/>
            <p14:sldId id="493"/>
            <p14:sldId id="516"/>
            <p14:sldId id="508"/>
            <p14:sldId id="512"/>
            <p14:sldId id="513"/>
            <p14:sldId id="509"/>
            <p14:sldId id="510"/>
            <p14:sldId id="517"/>
            <p14:sldId id="51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22">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00099"/>
    <a:srgbClr val="003399"/>
    <a:srgbClr val="003166"/>
    <a:srgbClr val="003366"/>
    <a:srgbClr val="0030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758D74-9B4A-4488-9837-1D0DC04BDF3A}" v="1" dt="2025-10-03T13:38:33.8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36" autoAdjust="0"/>
    <p:restoredTop sz="91031" autoAdjust="0"/>
  </p:normalViewPr>
  <p:slideViewPr>
    <p:cSldViewPr>
      <p:cViewPr varScale="1">
        <p:scale>
          <a:sx n="75" d="100"/>
          <a:sy n="75" d="100"/>
        </p:scale>
        <p:origin x="161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8" d="100"/>
          <a:sy n="68" d="100"/>
        </p:scale>
        <p:origin x="-3252" y="-114"/>
      </p:cViewPr>
      <p:guideLst>
        <p:guide orient="horz" pos="2932"/>
        <p:guide pos="222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ry, Annie" userId="af04292d-c70a-4741-bdac-f5b5216e0ebd" providerId="ADAL" clId="{99149A6C-1576-4324-A437-C7A3E825DF02}"/>
    <pc:docChg chg="undo custSel delSld modSld modSection">
      <pc:chgData name="Barry, Annie" userId="af04292d-c70a-4741-bdac-f5b5216e0ebd" providerId="ADAL" clId="{99149A6C-1576-4324-A437-C7A3E825DF02}" dt="2025-10-03T19:39:58.203" v="569" actId="20577"/>
      <pc:docMkLst>
        <pc:docMk/>
      </pc:docMkLst>
      <pc:sldChg chg="modSp mod">
        <pc:chgData name="Barry, Annie" userId="af04292d-c70a-4741-bdac-f5b5216e0ebd" providerId="ADAL" clId="{99149A6C-1576-4324-A437-C7A3E825DF02}" dt="2025-10-03T18:48:14.870" v="172" actId="207"/>
        <pc:sldMkLst>
          <pc:docMk/>
          <pc:sldMk cId="181300795" sldId="490"/>
        </pc:sldMkLst>
        <pc:spChg chg="mod">
          <ac:chgData name="Barry, Annie" userId="af04292d-c70a-4741-bdac-f5b5216e0ebd" providerId="ADAL" clId="{99149A6C-1576-4324-A437-C7A3E825DF02}" dt="2025-10-03T18:48:14.870" v="172" actId="207"/>
          <ac:spMkLst>
            <pc:docMk/>
            <pc:sldMk cId="181300795" sldId="490"/>
            <ac:spMk id="3" creationId="{00000000-0000-0000-0000-000000000000}"/>
          </ac:spMkLst>
        </pc:spChg>
        <pc:spChg chg="mod">
          <ac:chgData name="Barry, Annie" userId="af04292d-c70a-4741-bdac-f5b5216e0ebd" providerId="ADAL" clId="{99149A6C-1576-4324-A437-C7A3E825DF02}" dt="2025-10-03T18:48:10.337" v="171" actId="207"/>
          <ac:spMkLst>
            <pc:docMk/>
            <pc:sldMk cId="181300795" sldId="490"/>
            <ac:spMk id="7" creationId="{00000000-0000-0000-0000-000000000000}"/>
          </ac:spMkLst>
        </pc:spChg>
      </pc:sldChg>
      <pc:sldChg chg="modSp mod">
        <pc:chgData name="Barry, Annie" userId="af04292d-c70a-4741-bdac-f5b5216e0ebd" providerId="ADAL" clId="{99149A6C-1576-4324-A437-C7A3E825DF02}" dt="2025-10-03T19:39:45.572" v="558" actId="20577"/>
        <pc:sldMkLst>
          <pc:docMk/>
          <pc:sldMk cId="158142363" sldId="494"/>
        </pc:sldMkLst>
        <pc:spChg chg="mod">
          <ac:chgData name="Barry, Annie" userId="af04292d-c70a-4741-bdac-f5b5216e0ebd" providerId="ADAL" clId="{99149A6C-1576-4324-A437-C7A3E825DF02}" dt="2025-10-03T19:39:45.572" v="558" actId="20577"/>
          <ac:spMkLst>
            <pc:docMk/>
            <pc:sldMk cId="158142363" sldId="494"/>
            <ac:spMk id="816130" creationId="{00000000-0000-0000-0000-000000000000}"/>
          </ac:spMkLst>
        </pc:spChg>
      </pc:sldChg>
      <pc:sldChg chg="modSp mod">
        <pc:chgData name="Barry, Annie" userId="af04292d-c70a-4741-bdac-f5b5216e0ebd" providerId="ADAL" clId="{99149A6C-1576-4324-A437-C7A3E825DF02}" dt="2025-10-03T19:39:58.203" v="569" actId="20577"/>
        <pc:sldMkLst>
          <pc:docMk/>
          <pc:sldMk cId="719032940" sldId="495"/>
        </pc:sldMkLst>
        <pc:spChg chg="mod">
          <ac:chgData name="Barry, Annie" userId="af04292d-c70a-4741-bdac-f5b5216e0ebd" providerId="ADAL" clId="{99149A6C-1576-4324-A437-C7A3E825DF02}" dt="2025-10-03T19:39:58.203" v="569" actId="20577"/>
          <ac:spMkLst>
            <pc:docMk/>
            <pc:sldMk cId="719032940" sldId="495"/>
            <ac:spMk id="8196" creationId="{00000000-0000-0000-0000-000000000000}"/>
          </ac:spMkLst>
        </pc:spChg>
      </pc:sldChg>
      <pc:sldChg chg="del">
        <pc:chgData name="Barry, Annie" userId="af04292d-c70a-4741-bdac-f5b5216e0ebd" providerId="ADAL" clId="{99149A6C-1576-4324-A437-C7A3E825DF02}" dt="2025-10-03T19:38:25.892" v="556" actId="2696"/>
        <pc:sldMkLst>
          <pc:docMk/>
          <pc:sldMk cId="3303844539" sldId="503"/>
        </pc:sldMkLst>
      </pc:sldChg>
      <pc:sldChg chg="del">
        <pc:chgData name="Barry, Annie" userId="af04292d-c70a-4741-bdac-f5b5216e0ebd" providerId="ADAL" clId="{99149A6C-1576-4324-A437-C7A3E825DF02}" dt="2025-10-03T19:38:21.849" v="555" actId="2696"/>
        <pc:sldMkLst>
          <pc:docMk/>
          <pc:sldMk cId="2247231627" sldId="504"/>
        </pc:sldMkLst>
      </pc:sldChg>
      <pc:sldChg chg="modSp mod">
        <pc:chgData name="Barry, Annie" userId="af04292d-c70a-4741-bdac-f5b5216e0ebd" providerId="ADAL" clId="{99149A6C-1576-4324-A437-C7A3E825DF02}" dt="2025-10-03T19:36:48.491" v="554" actId="20577"/>
        <pc:sldMkLst>
          <pc:docMk/>
          <pc:sldMk cId="518629917" sldId="513"/>
        </pc:sldMkLst>
        <pc:spChg chg="mod">
          <ac:chgData name="Barry, Annie" userId="af04292d-c70a-4741-bdac-f5b5216e0ebd" providerId="ADAL" clId="{99149A6C-1576-4324-A437-C7A3E825DF02}" dt="2025-10-03T19:36:48.491" v="554" actId="20577"/>
          <ac:spMkLst>
            <pc:docMk/>
            <pc:sldMk cId="518629917" sldId="513"/>
            <ac:spMk id="3" creationId="{00000000-0000-0000-0000-000000000000}"/>
          </ac:spMkLst>
        </pc:spChg>
      </pc:sldChg>
      <pc:sldChg chg="modSp mod">
        <pc:chgData name="Barry, Annie" userId="af04292d-c70a-4741-bdac-f5b5216e0ebd" providerId="ADAL" clId="{99149A6C-1576-4324-A437-C7A3E825DF02}" dt="2025-10-03T18:43:36.622" v="88" actId="20577"/>
        <pc:sldMkLst>
          <pc:docMk/>
          <pc:sldMk cId="2373573289" sldId="518"/>
        </pc:sldMkLst>
        <pc:spChg chg="mod">
          <ac:chgData name="Barry, Annie" userId="af04292d-c70a-4741-bdac-f5b5216e0ebd" providerId="ADAL" clId="{99149A6C-1576-4324-A437-C7A3E825DF02}" dt="2025-10-03T18:43:36.622" v="88" actId="20577"/>
          <ac:spMkLst>
            <pc:docMk/>
            <pc:sldMk cId="2373573289" sldId="518"/>
            <ac:spMk id="3" creationId="{778BC2C5-F704-4E3F-8BE7-C9B4BBF186D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accent1_2" csCatId="accent1" phldr="1"/>
      <dgm:spPr/>
      <dgm:t>
        <a:bodyPr/>
        <a:lstStyle/>
        <a:p>
          <a:endParaRPr lang="en-US"/>
        </a:p>
      </dgm:t>
    </dgm:pt>
    <dgm:pt modelId="{D1776C8F-2B10-4075-8DF7-7F65AB725ED5}">
      <dgm:prSet phldrT="[Text]"/>
      <dgm:spPr>
        <a:solidFill>
          <a:schemeClr val="tx1">
            <a:lumMod val="65000"/>
            <a:lumOff val="35000"/>
          </a:schemeClr>
        </a:solidFill>
      </dgm:spPr>
      <dgm:t>
        <a:bodyPr/>
        <a:lstStyle/>
        <a:p>
          <a:r>
            <a:rPr lang="en-US" b="1"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Operational</a:t>
          </a:r>
          <a:r>
            <a:rPr lang="en-US"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Goal</a:t>
          </a:r>
        </a:p>
      </dgm:t>
    </dgm:pt>
    <dgm:pt modelId="{7291E740-3E17-41B3-99D3-1D67AE37CC3F}" type="parTrans" cxnId="{7077B78D-FCDC-4519-8416-DC357ACD5043}">
      <dgm:prSet/>
      <dgm:spPr/>
      <dgm:t>
        <a:bodyPr/>
        <a:lstStyle/>
        <a:p>
          <a:endParaRPr lang="en-US"/>
        </a:p>
      </dgm:t>
    </dgm:pt>
    <dgm:pt modelId="{88B75C29-8054-417D-BCE3-878A55118F6D}" type="sibTrans" cxnId="{7077B78D-FCDC-4519-8416-DC357ACD5043}">
      <dgm:prSet/>
      <dgm:spPr/>
      <dgm:t>
        <a:bodyPr/>
        <a:lstStyle/>
        <a:p>
          <a:endParaRPr lang="en-US"/>
        </a:p>
      </dgm:t>
    </dgm:pt>
    <dgm:pt modelId="{6BE4E373-0656-4EDC-821E-BE09C952B1F6}">
      <dgm:prSet phldrT="[Text]"/>
      <dgm:spPr>
        <a:solidFill>
          <a:schemeClr val="accent1">
            <a:alpha val="15000"/>
          </a:schemeClr>
        </a:solidFill>
      </dgm:spPr>
      <dgm:t>
        <a:bodyPr/>
        <a:lstStyle/>
        <a:p>
          <a:pPr marL="0" indent="0"/>
          <a:r>
            <a:rPr lang="en-US" b="0" dirty="0"/>
            <a:t> </a:t>
          </a:r>
          <a:r>
            <a:rPr lang="en-US" b="0" dirty="0">
              <a:solidFill>
                <a:schemeClr val="tx1"/>
              </a:solidFill>
              <a:latin typeface="Calibri" panose="020F0502020204030204" pitchFamily="34" charset="0"/>
            </a:rPr>
            <a:t>The IRB’s aim is to </a:t>
          </a:r>
          <a:r>
            <a:rPr lang="en-US" b="0" dirty="0">
              <a:latin typeface="Calibri" panose="020F0502020204030204" pitchFamily="34" charset="0"/>
            </a:rPr>
            <a:t>facilitate and strengthen human </a:t>
          </a:r>
          <a:r>
            <a:rPr lang="en-US" b="0" dirty="0">
              <a:latin typeface="Calibri" panose="020F0502020204030204" pitchFamily="34" charset="0"/>
              <a:cs typeface="Arial" panose="020B0604020202020204" pitchFamily="34" charset="0"/>
            </a:rPr>
            <a:t>subjects</a:t>
          </a:r>
          <a:r>
            <a:rPr lang="en-US" b="0" dirty="0">
              <a:latin typeface="Calibri" panose="020F0502020204030204" pitchFamily="34" charset="0"/>
            </a:rPr>
            <a:t> research conducted by investigators at Columbia University.</a:t>
          </a:r>
          <a:endParaRPr lang="en-US" b="0" dirty="0">
            <a:solidFill>
              <a:schemeClr val="bg1"/>
            </a:solidFill>
            <a:effectLst>
              <a:outerShdw blurRad="38100" dist="38100" dir="2700000" algn="tl">
                <a:srgbClr val="000000">
                  <a:alpha val="43137"/>
                </a:srgbClr>
              </a:outerShdw>
            </a:effectLst>
            <a:latin typeface="Calibri" panose="020F0502020204030204" pitchFamily="34" charset="0"/>
          </a:endParaRPr>
        </a:p>
      </dgm:t>
    </dgm:pt>
    <dgm:pt modelId="{34218063-BF94-4304-99BD-B3F7BA4D3C8F}" type="parTrans" cxnId="{119690D4-400B-468B-8BA0-5C9C9E2AFEAF}">
      <dgm:prSet/>
      <dgm:spPr/>
      <dgm:t>
        <a:bodyPr/>
        <a:lstStyle/>
        <a:p>
          <a:endParaRPr lang="en-US"/>
        </a:p>
      </dgm:t>
    </dgm:pt>
    <dgm:pt modelId="{E17B9BF1-2948-497F-8EC7-3BF734D839DB}" type="sibTrans" cxnId="{119690D4-400B-468B-8BA0-5C9C9E2AFEAF}">
      <dgm:prSet/>
      <dgm:spPr/>
      <dgm:t>
        <a:bodyPr/>
        <a:lstStyle/>
        <a:p>
          <a:endParaRPr lang="en-US"/>
        </a:p>
      </dgm:t>
    </dgm:pt>
    <dgm:pt modelId="{5A8F723F-60B8-4FFF-AB9C-25A1A6A59B92}">
      <dgm:prSet phldrT="[Text]"/>
      <dgm:spPr>
        <a:solidFill>
          <a:schemeClr val="accent1">
            <a:alpha val="15000"/>
          </a:schemeClr>
        </a:solidFill>
      </dgm:spPr>
      <dgm:t>
        <a:bodyPr/>
        <a:lstStyle/>
        <a:p>
          <a:pPr marL="0" marR="0" indent="0" algn="l" defTabSz="914400" eaLnBrk="1" fontAlgn="auto" latinLnBrk="0" hangingPunct="1">
            <a:lnSpc>
              <a:spcPct val="100000"/>
            </a:lnSpc>
            <a:spcBef>
              <a:spcPts val="0"/>
            </a:spcBef>
            <a:spcAft>
              <a:spcPts val="0"/>
            </a:spcAft>
            <a:buClrTx/>
            <a:buSzTx/>
            <a:buFontTx/>
            <a:buNone/>
            <a:tabLst/>
            <a:defRPr/>
          </a:pPr>
          <a:r>
            <a:rPr lang="en-US" b="0" dirty="0">
              <a:latin typeface="Calibri" panose="020F0502020204030204" pitchFamily="34" charset="0"/>
            </a:rPr>
            <a:t> The IRB has the authority to review, approve, disapprove, suspend and monitor all research proposed </a:t>
          </a:r>
          <a:r>
            <a:rPr lang="en-US" b="0" dirty="0">
              <a:solidFill>
                <a:schemeClr val="tx1"/>
              </a:solidFill>
              <a:latin typeface="Calibri" panose="020F0502020204030204" pitchFamily="34" charset="0"/>
            </a:rPr>
            <a:t>or approved </a:t>
          </a:r>
          <a:r>
            <a:rPr lang="en-US" b="0" dirty="0">
              <a:latin typeface="Calibri" panose="020F0502020204030204" pitchFamily="34" charset="0"/>
            </a:rPr>
            <a:t>to include human subjects.  </a:t>
          </a:r>
          <a:endParaRPr lang="en-US" b="0" dirty="0">
            <a:solidFill>
              <a:schemeClr val="bg1"/>
            </a:solidFill>
            <a:effectLst>
              <a:outerShdw blurRad="38100" dist="38100" dir="2700000" algn="tl">
                <a:srgbClr val="000000">
                  <a:alpha val="43137"/>
                </a:srgbClr>
              </a:outerShdw>
            </a:effectLst>
            <a:latin typeface="Calibri" panose="020F0502020204030204" pitchFamily="34" charset="0"/>
          </a:endParaRPr>
        </a:p>
      </dgm:t>
    </dgm:pt>
    <dgm:pt modelId="{11297E94-8679-4E92-8844-D44445091E15}" type="parTrans" cxnId="{AA9DEED2-983B-43AF-BDE6-D9FA9C13A34F}">
      <dgm:prSet/>
      <dgm:spPr/>
      <dgm:t>
        <a:bodyPr/>
        <a:lstStyle/>
        <a:p>
          <a:endParaRPr lang="en-US"/>
        </a:p>
      </dgm:t>
    </dgm:pt>
    <dgm:pt modelId="{3526D66A-A8DC-4E03-A109-7C24DCFD07E9}" type="sibTrans" cxnId="{AA9DEED2-983B-43AF-BDE6-D9FA9C13A34F}">
      <dgm:prSet/>
      <dgm:spPr/>
      <dgm:t>
        <a:bodyPr/>
        <a:lstStyle/>
        <a:p>
          <a:endParaRPr lang="en-US"/>
        </a:p>
      </dgm:t>
    </dgm:pt>
    <dgm:pt modelId="{74EE5CD8-078F-4590-BF9C-A341A294A016}">
      <dgm:prSet phldrT="[Text]"/>
      <dgm:spPr>
        <a:solidFill>
          <a:schemeClr val="tx1">
            <a:lumMod val="65000"/>
            <a:lumOff val="35000"/>
          </a:schemeClr>
        </a:solidFill>
      </dgm:spPr>
      <dgm:t>
        <a:bodyPr/>
        <a:lstStyle/>
        <a:p>
          <a:r>
            <a:rPr lang="en-US" b="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IRB</a:t>
          </a:r>
        </a:p>
        <a:p>
          <a:r>
            <a:rPr lang="en-US" b="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Membership</a:t>
          </a:r>
          <a:endParaRPr lang="en-US"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gm:t>
    </dgm:pt>
    <dgm:pt modelId="{CF9FB981-E6ED-4440-AC98-4E4E2ABA2C55}" type="sibTrans" cxnId="{F40F9561-0D4C-44CF-91EF-A92B1DBDE44B}">
      <dgm:prSet/>
      <dgm:spPr/>
      <dgm:t>
        <a:bodyPr/>
        <a:lstStyle/>
        <a:p>
          <a:endParaRPr lang="en-US"/>
        </a:p>
      </dgm:t>
    </dgm:pt>
    <dgm:pt modelId="{BB568D76-3363-43D3-B00C-3359A643216C}" type="parTrans" cxnId="{F40F9561-0D4C-44CF-91EF-A92B1DBDE44B}">
      <dgm:prSet/>
      <dgm:spPr/>
      <dgm:t>
        <a:bodyPr/>
        <a:lstStyle/>
        <a:p>
          <a:endParaRPr lang="en-US"/>
        </a:p>
      </dgm:t>
    </dgm:pt>
    <dgm:pt modelId="{AA046201-5C4D-445E-BF0B-5C6D2B0A1945}">
      <dgm:prSet phldrT="[Text]"/>
      <dgm:spPr>
        <a:solidFill>
          <a:schemeClr val="tx1">
            <a:lumMod val="65000"/>
            <a:lumOff val="35000"/>
          </a:schemeClr>
        </a:solidFill>
      </dgm:spPr>
      <dgm:t>
        <a:bodyPr/>
        <a:lstStyle/>
        <a:p>
          <a:r>
            <a:rPr lang="en-US"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Authority</a:t>
          </a:r>
        </a:p>
      </dgm:t>
    </dgm:pt>
    <dgm:pt modelId="{40767EFF-7D52-4469-ACEE-7D28E67337E2}" type="sibTrans" cxnId="{B8AF1086-D7BE-446F-9133-738B599E9A7D}">
      <dgm:prSet/>
      <dgm:spPr/>
      <dgm:t>
        <a:bodyPr/>
        <a:lstStyle/>
        <a:p>
          <a:endParaRPr lang="en-US"/>
        </a:p>
      </dgm:t>
    </dgm:pt>
    <dgm:pt modelId="{FE92FC33-5E0F-4302-9E80-A69E8ACDDE56}" type="parTrans" cxnId="{B8AF1086-D7BE-446F-9133-738B599E9A7D}">
      <dgm:prSet/>
      <dgm:spPr/>
      <dgm:t>
        <a:bodyPr/>
        <a:lstStyle/>
        <a:p>
          <a:endParaRPr lang="en-US"/>
        </a:p>
      </dgm:t>
    </dgm:pt>
    <dgm:pt modelId="{CA533023-1729-452E-B7F5-E2D337A5A54E}">
      <dgm:prSet phldrT="[Text]"/>
      <dgm:spPr>
        <a:solidFill>
          <a:schemeClr val="accent1">
            <a:alpha val="15000"/>
          </a:schemeClr>
        </a:solidFill>
      </dgm:spPr>
      <dgm:t>
        <a:bodyPr/>
        <a:lstStyle/>
        <a:p>
          <a:pPr marL="0" indent="0"/>
          <a:r>
            <a:rPr lang="en-US" b="0" dirty="0">
              <a:latin typeface="Calibri" panose="020F0502020204030204" pitchFamily="34" charset="0"/>
            </a:rPr>
            <a:t>Consists of well qualified faculty, staff, and representatives from the community. </a:t>
          </a:r>
          <a:endParaRPr lang="en-US" b="0" dirty="0">
            <a:solidFill>
              <a:schemeClr val="bg1"/>
            </a:solidFill>
            <a:effectLst>
              <a:outerShdw blurRad="38100" dist="38100" dir="2700000" algn="tl">
                <a:srgbClr val="000000">
                  <a:alpha val="43137"/>
                </a:srgbClr>
              </a:outerShdw>
            </a:effectLst>
            <a:latin typeface="Calibri" panose="020F0502020204030204" pitchFamily="34" charset="0"/>
          </a:endParaRPr>
        </a:p>
      </dgm:t>
    </dgm:pt>
    <dgm:pt modelId="{AC3174AE-9521-4011-A65C-8103FC3460D7}" type="sibTrans" cxnId="{964975B6-9C0D-44A9-B903-4B0161AEECEC}">
      <dgm:prSet/>
      <dgm:spPr/>
      <dgm:t>
        <a:bodyPr/>
        <a:lstStyle/>
        <a:p>
          <a:endParaRPr lang="en-US"/>
        </a:p>
      </dgm:t>
    </dgm:pt>
    <dgm:pt modelId="{9F1B9210-DAB0-46FD-8C1E-1994F5BC3F74}" type="parTrans" cxnId="{964975B6-9C0D-44A9-B903-4B0161AEECEC}">
      <dgm:prSet/>
      <dgm:spPr/>
      <dgm:t>
        <a:bodyPr/>
        <a:lstStyle/>
        <a:p>
          <a:endParaRPr lang="en-US"/>
        </a:p>
      </dgm:t>
    </dgm:pt>
    <dgm:pt modelId="{AAE7A1E6-6847-453D-B55B-8A82BF138C1D}" type="pres">
      <dgm:prSet presAssocID="{F6FEADD9-F67D-41F5-BA4C-3C84956E7F46}" presName="Name0" presStyleCnt="0">
        <dgm:presLayoutVars>
          <dgm:dir/>
          <dgm:animLvl val="lvl"/>
          <dgm:resizeHandles val="exact"/>
        </dgm:presLayoutVars>
      </dgm:prSet>
      <dgm:spPr/>
    </dgm:pt>
    <dgm:pt modelId="{C4407577-18A2-46E0-8805-2838042EB67A}" type="pres">
      <dgm:prSet presAssocID="{74EE5CD8-078F-4590-BF9C-A341A294A016}" presName="linNode" presStyleCnt="0"/>
      <dgm:spPr/>
    </dgm:pt>
    <dgm:pt modelId="{7E429971-BC57-430F-BB25-C0574E5E39E3}" type="pres">
      <dgm:prSet presAssocID="{74EE5CD8-078F-4590-BF9C-A341A294A016}" presName="parentText" presStyleLbl="node1" presStyleIdx="0" presStyleCnt="3" custScaleX="87874" custScaleY="78978" custLinFactNeighborY="-15667">
        <dgm:presLayoutVars>
          <dgm:chMax val="1"/>
          <dgm:bulletEnabled val="1"/>
        </dgm:presLayoutVars>
      </dgm:prSet>
      <dgm:spPr>
        <a:prstGeom prst="roundRect">
          <a:avLst/>
        </a:prstGeom>
      </dgm:spPr>
    </dgm:pt>
    <dgm:pt modelId="{D54B1729-BC98-42C1-9C6C-D65DCBA4358F}" type="pres">
      <dgm:prSet presAssocID="{74EE5CD8-078F-4590-BF9C-A341A294A016}" presName="descendantText" presStyleLbl="alignAccFollowNode1" presStyleIdx="0" presStyleCnt="3" custScaleX="259632" custLinFactNeighborX="7030">
        <dgm:presLayoutVars>
          <dgm:bulletEnabled val="1"/>
        </dgm:presLayoutVars>
      </dgm:prSet>
      <dgm:spPr>
        <a:prstGeom prst="roundRect">
          <a:avLst/>
        </a:prstGeom>
      </dgm:spPr>
    </dgm:pt>
    <dgm:pt modelId="{AB8574CC-D4F2-4555-AEE3-F4EE58B11D03}" type="pres">
      <dgm:prSet presAssocID="{CF9FB981-E6ED-4440-AC98-4E4E2ABA2C55}" presName="sp" presStyleCnt="0"/>
      <dgm:spPr/>
    </dgm:pt>
    <dgm:pt modelId="{85B8F607-FDD8-476A-ADBE-E1250824F294}" type="pres">
      <dgm:prSet presAssocID="{AA046201-5C4D-445E-BF0B-5C6D2B0A1945}" presName="linNode" presStyleCnt="0"/>
      <dgm:spPr/>
    </dgm:pt>
    <dgm:pt modelId="{C04276DC-EE64-470A-B8BC-09067B8045FA}" type="pres">
      <dgm:prSet presAssocID="{AA046201-5C4D-445E-BF0B-5C6D2B0A1945}" presName="parentText" presStyleLbl="node1" presStyleIdx="1" presStyleCnt="3" custScaleX="87966" custScaleY="77694">
        <dgm:presLayoutVars>
          <dgm:chMax val="1"/>
          <dgm:bulletEnabled val="1"/>
        </dgm:presLayoutVars>
      </dgm:prSet>
      <dgm:spPr>
        <a:prstGeom prst="roundRect">
          <a:avLst/>
        </a:prstGeom>
      </dgm:spPr>
    </dgm:pt>
    <dgm:pt modelId="{B37A5355-225B-4C6F-AED7-6C620F99EECC}" type="pres">
      <dgm:prSet presAssocID="{AA046201-5C4D-445E-BF0B-5C6D2B0A1945}" presName="descendantText" presStyleLbl="alignAccFollowNode1" presStyleIdx="1" presStyleCnt="3" custScaleX="259632" custLinFactNeighborX="7030">
        <dgm:presLayoutVars>
          <dgm:bulletEnabled val="1"/>
        </dgm:presLayoutVars>
      </dgm:prSet>
      <dgm:spPr>
        <a:prstGeom prst="roundRect">
          <a:avLst/>
        </a:prstGeom>
      </dgm:spPr>
    </dgm:pt>
    <dgm:pt modelId="{5ACAA866-A8A8-4183-97B5-CEEAB1525C60}" type="pres">
      <dgm:prSet presAssocID="{40767EFF-7D52-4469-ACEE-7D28E67337E2}" presName="sp" presStyleCnt="0"/>
      <dgm:spPr/>
    </dgm:pt>
    <dgm:pt modelId="{477213BE-9E91-4950-8451-7F60796F47F4}" type="pres">
      <dgm:prSet presAssocID="{D1776C8F-2B10-4075-8DF7-7F65AB725ED5}" presName="linNode" presStyleCnt="0"/>
      <dgm:spPr/>
    </dgm:pt>
    <dgm:pt modelId="{F5034101-5B7D-4FE7-B47A-5A48CF39606B}" type="pres">
      <dgm:prSet presAssocID="{D1776C8F-2B10-4075-8DF7-7F65AB725ED5}" presName="parentText" presStyleLbl="node1" presStyleIdx="2" presStyleCnt="3" custScaleX="87033" custScaleY="82007">
        <dgm:presLayoutVars>
          <dgm:chMax val="1"/>
          <dgm:bulletEnabled val="1"/>
        </dgm:presLayoutVars>
      </dgm:prSet>
      <dgm:spPr>
        <a:prstGeom prst="roundRect">
          <a:avLst/>
        </a:prstGeom>
      </dgm:spPr>
    </dgm:pt>
    <dgm:pt modelId="{C7C3E6FD-D83F-4BDA-907E-B5EE041DA931}" type="pres">
      <dgm:prSet presAssocID="{D1776C8F-2B10-4075-8DF7-7F65AB725ED5}" presName="descendantText" presStyleLbl="alignAccFollowNode1" presStyleIdx="2" presStyleCnt="3" custScaleX="259632">
        <dgm:presLayoutVars>
          <dgm:bulletEnabled val="1"/>
        </dgm:presLayoutVars>
      </dgm:prSet>
      <dgm:spPr>
        <a:prstGeom prst="roundRect">
          <a:avLst/>
        </a:prstGeom>
      </dgm:spPr>
    </dgm:pt>
  </dgm:ptLst>
  <dgm:cxnLst>
    <dgm:cxn modelId="{2F66C707-9C53-469B-B7A0-D8A8CDC2BF34}" type="presOf" srcId="{D1776C8F-2B10-4075-8DF7-7F65AB725ED5}" destId="{F5034101-5B7D-4FE7-B47A-5A48CF39606B}" srcOrd="0" destOrd="0" presId="urn:microsoft.com/office/officeart/2005/8/layout/vList5"/>
    <dgm:cxn modelId="{A5CB6434-B48C-403B-9E7D-EE3F018AA236}" type="presOf" srcId="{CA533023-1729-452E-B7F5-E2D337A5A54E}" destId="{D54B1729-BC98-42C1-9C6C-D65DCBA4358F}" srcOrd="0" destOrd="0" presId="urn:microsoft.com/office/officeart/2005/8/layout/vList5"/>
    <dgm:cxn modelId="{BF03F93B-291D-4DC0-BCA9-539A7F2A655A}" type="presOf" srcId="{74EE5CD8-078F-4590-BF9C-A341A294A016}" destId="{7E429971-BC57-430F-BB25-C0574E5E39E3}" srcOrd="0" destOrd="0" presId="urn:microsoft.com/office/officeart/2005/8/layout/vList5"/>
    <dgm:cxn modelId="{F40F9561-0D4C-44CF-91EF-A92B1DBDE44B}" srcId="{F6FEADD9-F67D-41F5-BA4C-3C84956E7F46}" destId="{74EE5CD8-078F-4590-BF9C-A341A294A016}" srcOrd="0" destOrd="0" parTransId="{BB568D76-3363-43D3-B00C-3359A643216C}" sibTransId="{CF9FB981-E6ED-4440-AC98-4E4E2ABA2C55}"/>
    <dgm:cxn modelId="{0A3DA248-E451-4F04-B7F0-54096E43D899}" type="presOf" srcId="{AA046201-5C4D-445E-BF0B-5C6D2B0A1945}" destId="{C04276DC-EE64-470A-B8BC-09067B8045FA}" srcOrd="0" destOrd="0" presId="urn:microsoft.com/office/officeart/2005/8/layout/vList5"/>
    <dgm:cxn modelId="{B8AF1086-D7BE-446F-9133-738B599E9A7D}" srcId="{F6FEADD9-F67D-41F5-BA4C-3C84956E7F46}" destId="{AA046201-5C4D-445E-BF0B-5C6D2B0A1945}" srcOrd="1" destOrd="0" parTransId="{FE92FC33-5E0F-4302-9E80-A69E8ACDDE56}" sibTransId="{40767EFF-7D52-4469-ACEE-7D28E67337E2}"/>
    <dgm:cxn modelId="{B8F6B089-DDAF-4BAC-9E54-1FD0E27F258F}" type="presOf" srcId="{6BE4E373-0656-4EDC-821E-BE09C952B1F6}" destId="{C7C3E6FD-D83F-4BDA-907E-B5EE041DA931}" srcOrd="0" destOrd="0" presId="urn:microsoft.com/office/officeart/2005/8/layout/vList5"/>
    <dgm:cxn modelId="{7077B78D-FCDC-4519-8416-DC357ACD5043}" srcId="{F6FEADD9-F67D-41F5-BA4C-3C84956E7F46}" destId="{D1776C8F-2B10-4075-8DF7-7F65AB725ED5}" srcOrd="2" destOrd="0" parTransId="{7291E740-3E17-41B3-99D3-1D67AE37CC3F}" sibTransId="{88B75C29-8054-417D-BCE3-878A55118F6D}"/>
    <dgm:cxn modelId="{964975B6-9C0D-44A9-B903-4B0161AEECEC}" srcId="{74EE5CD8-078F-4590-BF9C-A341A294A016}" destId="{CA533023-1729-452E-B7F5-E2D337A5A54E}" srcOrd="0" destOrd="0" parTransId="{9F1B9210-DAB0-46FD-8C1E-1994F5BC3F74}" sibTransId="{AC3174AE-9521-4011-A65C-8103FC3460D7}"/>
    <dgm:cxn modelId="{17E6E9BF-E747-48DB-84FE-74AD314714A1}" type="presOf" srcId="{F6FEADD9-F67D-41F5-BA4C-3C84956E7F46}" destId="{AAE7A1E6-6847-453D-B55B-8A82BF138C1D}" srcOrd="0" destOrd="0" presId="urn:microsoft.com/office/officeart/2005/8/layout/vList5"/>
    <dgm:cxn modelId="{AA9DEED2-983B-43AF-BDE6-D9FA9C13A34F}" srcId="{AA046201-5C4D-445E-BF0B-5C6D2B0A1945}" destId="{5A8F723F-60B8-4FFF-AB9C-25A1A6A59B92}" srcOrd="0" destOrd="0" parTransId="{11297E94-8679-4E92-8844-D44445091E15}" sibTransId="{3526D66A-A8DC-4E03-A109-7C24DCFD07E9}"/>
    <dgm:cxn modelId="{119690D4-400B-468B-8BA0-5C9C9E2AFEAF}" srcId="{D1776C8F-2B10-4075-8DF7-7F65AB725ED5}" destId="{6BE4E373-0656-4EDC-821E-BE09C952B1F6}" srcOrd="0" destOrd="0" parTransId="{34218063-BF94-4304-99BD-B3F7BA4D3C8F}" sibTransId="{E17B9BF1-2948-497F-8EC7-3BF734D839DB}"/>
    <dgm:cxn modelId="{3505F8F8-D45A-4DB8-94E0-9CD6AF2303F2}" type="presOf" srcId="{5A8F723F-60B8-4FFF-AB9C-25A1A6A59B92}" destId="{B37A5355-225B-4C6F-AED7-6C620F99EECC}" srcOrd="0" destOrd="0" presId="urn:microsoft.com/office/officeart/2005/8/layout/vList5"/>
    <dgm:cxn modelId="{76F43C16-100E-4A7E-8FEE-67F93EFF9DA4}" type="presParOf" srcId="{AAE7A1E6-6847-453D-B55B-8A82BF138C1D}" destId="{C4407577-18A2-46E0-8805-2838042EB67A}" srcOrd="0" destOrd="0" presId="urn:microsoft.com/office/officeart/2005/8/layout/vList5"/>
    <dgm:cxn modelId="{0F230A64-51E9-4768-86C9-2BD2423ADB22}" type="presParOf" srcId="{C4407577-18A2-46E0-8805-2838042EB67A}" destId="{7E429971-BC57-430F-BB25-C0574E5E39E3}" srcOrd="0" destOrd="0" presId="urn:microsoft.com/office/officeart/2005/8/layout/vList5"/>
    <dgm:cxn modelId="{70DD0B7F-98BC-4B3D-B45B-CA4907582E6C}" type="presParOf" srcId="{C4407577-18A2-46E0-8805-2838042EB67A}" destId="{D54B1729-BC98-42C1-9C6C-D65DCBA4358F}" srcOrd="1" destOrd="0" presId="urn:microsoft.com/office/officeart/2005/8/layout/vList5"/>
    <dgm:cxn modelId="{EF795CA3-4CCE-4DAE-9981-1280DCFCA640}" type="presParOf" srcId="{AAE7A1E6-6847-453D-B55B-8A82BF138C1D}" destId="{AB8574CC-D4F2-4555-AEE3-F4EE58B11D03}" srcOrd="1" destOrd="0" presId="urn:microsoft.com/office/officeart/2005/8/layout/vList5"/>
    <dgm:cxn modelId="{379160A7-1C4A-4F26-B324-81EE94A8B694}" type="presParOf" srcId="{AAE7A1E6-6847-453D-B55B-8A82BF138C1D}" destId="{85B8F607-FDD8-476A-ADBE-E1250824F294}" srcOrd="2" destOrd="0" presId="urn:microsoft.com/office/officeart/2005/8/layout/vList5"/>
    <dgm:cxn modelId="{12EFEDA7-F55F-45CF-9AC3-AC0AB97EBA64}" type="presParOf" srcId="{85B8F607-FDD8-476A-ADBE-E1250824F294}" destId="{C04276DC-EE64-470A-B8BC-09067B8045FA}" srcOrd="0" destOrd="0" presId="urn:microsoft.com/office/officeart/2005/8/layout/vList5"/>
    <dgm:cxn modelId="{821A197B-964B-4258-A9AD-2E407EF308AF}" type="presParOf" srcId="{85B8F607-FDD8-476A-ADBE-E1250824F294}" destId="{B37A5355-225B-4C6F-AED7-6C620F99EECC}" srcOrd="1" destOrd="0" presId="urn:microsoft.com/office/officeart/2005/8/layout/vList5"/>
    <dgm:cxn modelId="{B85AAAD1-58EE-4A55-81E6-32BB8668BA79}" type="presParOf" srcId="{AAE7A1E6-6847-453D-B55B-8A82BF138C1D}" destId="{5ACAA866-A8A8-4183-97B5-CEEAB1525C60}" srcOrd="3" destOrd="0" presId="urn:microsoft.com/office/officeart/2005/8/layout/vList5"/>
    <dgm:cxn modelId="{F0E22B39-7B2A-40B6-882A-6167F35FCF5A}" type="presParOf" srcId="{AAE7A1E6-6847-453D-B55B-8A82BF138C1D}" destId="{477213BE-9E91-4950-8451-7F60796F47F4}" srcOrd="4" destOrd="0" presId="urn:microsoft.com/office/officeart/2005/8/layout/vList5"/>
    <dgm:cxn modelId="{80D2B8C2-A7DD-4CC9-BE61-38212ED43EF0}" type="presParOf" srcId="{477213BE-9E91-4950-8451-7F60796F47F4}" destId="{F5034101-5B7D-4FE7-B47A-5A48CF39606B}" srcOrd="0" destOrd="0" presId="urn:microsoft.com/office/officeart/2005/8/layout/vList5"/>
    <dgm:cxn modelId="{D9A6EA5B-CF91-44D7-A446-836DC18B5880}" type="presParOf" srcId="{477213BE-9E91-4950-8451-7F60796F47F4}" destId="{C7C3E6FD-D83F-4BDA-907E-B5EE041DA93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accent1_2" csCatId="accent1" phldr="1"/>
      <dgm:spPr/>
      <dgm:t>
        <a:bodyPr/>
        <a:lstStyle/>
        <a:p>
          <a:endParaRPr lang="en-US"/>
        </a:p>
      </dgm:t>
    </dgm:pt>
    <dgm:pt modelId="{74EE5CD8-078F-4590-BF9C-A341A294A016}">
      <dgm:prSet phldrT="[Text]" custT="1"/>
      <dgm:spPr>
        <a:solidFill>
          <a:schemeClr val="tx1">
            <a:lumMod val="65000"/>
            <a:lumOff val="35000"/>
          </a:schemeClr>
        </a:solidFill>
      </dgm:spPr>
      <dgm:t>
        <a:bodyPr/>
        <a:lstStyle/>
        <a:p>
          <a:r>
            <a:rPr lang="en-US" sz="1900" b="1" dirty="0">
              <a:solidFill>
                <a:schemeClr val="bg1"/>
              </a:solidFill>
              <a:effectLst>
                <a:outerShdw blurRad="38100" dist="38100" dir="2700000" algn="tl">
                  <a:srgbClr val="000000">
                    <a:alpha val="43137"/>
                  </a:srgbClr>
                </a:outerShdw>
              </a:effectLst>
            </a:rPr>
            <a:t>Respect for </a:t>
          </a:r>
          <a:r>
            <a:rPr lang="en-US" sz="19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Persons</a:t>
          </a:r>
        </a:p>
        <a:p>
          <a:endParaRPr lang="en-US" sz="1300" b="1" dirty="0">
            <a:solidFill>
              <a:schemeClr val="bg1"/>
            </a:solidFill>
            <a:effectLst>
              <a:outerShdw blurRad="38100" dist="38100" dir="2700000" algn="tl">
                <a:srgbClr val="000000">
                  <a:alpha val="43137"/>
                </a:srgbClr>
              </a:outerShdw>
            </a:effectLst>
          </a:endParaRPr>
        </a:p>
      </dgm:t>
    </dgm:pt>
    <dgm:pt modelId="{BB568D76-3363-43D3-B00C-3359A643216C}" type="parTrans" cxnId="{F40F9561-0D4C-44CF-91EF-A92B1DBDE44B}">
      <dgm:prSet/>
      <dgm:spPr/>
      <dgm:t>
        <a:bodyPr/>
        <a:lstStyle/>
        <a:p>
          <a:endParaRPr lang="en-US"/>
        </a:p>
      </dgm:t>
    </dgm:pt>
    <dgm:pt modelId="{CF9FB981-E6ED-4440-AC98-4E4E2ABA2C55}" type="sibTrans" cxnId="{F40F9561-0D4C-44CF-91EF-A92B1DBDE44B}">
      <dgm:prSet/>
      <dgm:spPr/>
      <dgm:t>
        <a:bodyPr/>
        <a:lstStyle/>
        <a:p>
          <a:endParaRPr lang="en-US"/>
        </a:p>
      </dgm:t>
    </dgm:pt>
    <dgm:pt modelId="{AA046201-5C4D-445E-BF0B-5C6D2B0A1945}">
      <dgm:prSet phldrT="[Text]" custT="1"/>
      <dgm:spPr>
        <a:solidFill>
          <a:schemeClr val="tx1">
            <a:lumMod val="65000"/>
            <a:lumOff val="35000"/>
          </a:schemeClr>
        </a:solidFill>
      </dgm:spPr>
      <dgm:t>
        <a:bodyPr/>
        <a:lstStyle/>
        <a:p>
          <a:r>
            <a:rPr lang="en-US" sz="19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Beneficence</a:t>
          </a:r>
        </a:p>
      </dgm:t>
    </dgm:pt>
    <dgm:pt modelId="{FE92FC33-5E0F-4302-9E80-A69E8ACDDE56}" type="parTrans" cxnId="{B8AF1086-D7BE-446F-9133-738B599E9A7D}">
      <dgm:prSet/>
      <dgm:spPr/>
      <dgm:t>
        <a:bodyPr/>
        <a:lstStyle/>
        <a:p>
          <a:endParaRPr lang="en-US"/>
        </a:p>
      </dgm:t>
    </dgm:pt>
    <dgm:pt modelId="{40767EFF-7D52-4469-ACEE-7D28E67337E2}" type="sibTrans" cxnId="{B8AF1086-D7BE-446F-9133-738B599E9A7D}">
      <dgm:prSet/>
      <dgm:spPr/>
      <dgm:t>
        <a:bodyPr/>
        <a:lstStyle/>
        <a:p>
          <a:endParaRPr lang="en-US"/>
        </a:p>
      </dgm:t>
    </dgm:pt>
    <dgm:pt modelId="{D1776C8F-2B10-4075-8DF7-7F65AB725ED5}">
      <dgm:prSet phldrT="[Text]" custT="1"/>
      <dgm:spPr>
        <a:solidFill>
          <a:schemeClr val="tx1">
            <a:lumMod val="65000"/>
            <a:lumOff val="35000"/>
          </a:schemeClr>
        </a:solidFill>
      </dgm:spPr>
      <dgm:t>
        <a:bodyPr/>
        <a:lstStyle/>
        <a:p>
          <a:r>
            <a:rPr lang="en-US" sz="19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Justice</a:t>
          </a:r>
        </a:p>
      </dgm:t>
    </dgm:pt>
    <dgm:pt modelId="{7291E740-3E17-41B3-99D3-1D67AE37CC3F}" type="parTrans" cxnId="{7077B78D-FCDC-4519-8416-DC357ACD5043}">
      <dgm:prSet/>
      <dgm:spPr/>
      <dgm:t>
        <a:bodyPr/>
        <a:lstStyle/>
        <a:p>
          <a:endParaRPr lang="en-US"/>
        </a:p>
      </dgm:t>
    </dgm:pt>
    <dgm:pt modelId="{88B75C29-8054-417D-BCE3-878A55118F6D}" type="sibTrans" cxnId="{7077B78D-FCDC-4519-8416-DC357ACD5043}">
      <dgm:prSet/>
      <dgm:spPr/>
      <dgm:t>
        <a:bodyPr/>
        <a:lstStyle/>
        <a:p>
          <a:endParaRPr lang="en-US"/>
        </a:p>
      </dgm:t>
    </dgm:pt>
    <dgm:pt modelId="{6BE4E373-0656-4EDC-821E-BE09C952B1F6}">
      <dgm:prSet phldrT="[Text]" custT="1"/>
      <dgm:spPr>
        <a:solidFill>
          <a:schemeClr val="accent1">
            <a:alpha val="15000"/>
          </a:schemeClr>
        </a:solidFill>
      </dgm:spPr>
      <dgm:t>
        <a:bodyPr/>
        <a:lstStyle/>
        <a:p>
          <a:r>
            <a:rPr lang="en-US" sz="1400" b="0" dirty="0">
              <a:latin typeface="Calibri" panose="020F0502020204030204" pitchFamily="34" charset="0"/>
            </a:rPr>
            <a:t>Selection of subjects is fair </a:t>
          </a:r>
          <a:r>
            <a:rPr lang="en-US" sz="1400" b="0" dirty="0">
              <a:latin typeface="Arial" panose="020B0604020202020204" pitchFamily="34" charset="0"/>
              <a:cs typeface="Arial" panose="020B0604020202020204" pitchFamily="34" charset="0"/>
            </a:rPr>
            <a:t>and</a:t>
          </a:r>
          <a:r>
            <a:rPr lang="en-US" sz="1400" b="0" dirty="0">
              <a:latin typeface="Calibri" panose="020F0502020204030204" pitchFamily="34" charset="0"/>
            </a:rPr>
            <a:t> equitable</a:t>
          </a:r>
          <a:endParaRPr lang="en-US" sz="1400" b="0" dirty="0">
            <a:solidFill>
              <a:schemeClr val="bg1"/>
            </a:solidFill>
            <a:effectLst>
              <a:outerShdw blurRad="38100" dist="38100" dir="2700000" algn="tl">
                <a:srgbClr val="000000">
                  <a:alpha val="43137"/>
                </a:srgbClr>
              </a:outerShdw>
            </a:effectLst>
            <a:latin typeface="Calibri" panose="020F0502020204030204" pitchFamily="34" charset="0"/>
          </a:endParaRPr>
        </a:p>
      </dgm:t>
    </dgm:pt>
    <dgm:pt modelId="{34218063-BF94-4304-99BD-B3F7BA4D3C8F}" type="parTrans" cxnId="{119690D4-400B-468B-8BA0-5C9C9E2AFEAF}">
      <dgm:prSet/>
      <dgm:spPr/>
      <dgm:t>
        <a:bodyPr/>
        <a:lstStyle/>
        <a:p>
          <a:endParaRPr lang="en-US"/>
        </a:p>
      </dgm:t>
    </dgm:pt>
    <dgm:pt modelId="{E17B9BF1-2948-497F-8EC7-3BF734D839DB}" type="sibTrans" cxnId="{119690D4-400B-468B-8BA0-5C9C9E2AFEAF}">
      <dgm:prSet/>
      <dgm:spPr/>
      <dgm:t>
        <a:bodyPr/>
        <a:lstStyle/>
        <a:p>
          <a:endParaRPr lang="en-US"/>
        </a:p>
      </dgm:t>
    </dgm:pt>
    <dgm:pt modelId="{5A8F723F-60B8-4FFF-AB9C-25A1A6A59B92}">
      <dgm:prSet phldrT="[Text]" custT="1"/>
      <dgm:spPr>
        <a:solidFill>
          <a:schemeClr val="accent1">
            <a:alpha val="15000"/>
          </a:schemeClr>
        </a:solidFill>
      </dgm:spPr>
      <dgm:t>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1400" b="0" baseline="0" dirty="0">
              <a:solidFill>
                <a:schemeClr val="tx1"/>
              </a:solidFill>
              <a:latin typeface="Calibri" panose="020F0502020204030204" pitchFamily="34" charset="0"/>
            </a:rPr>
            <a:t>Risks are  minimized</a:t>
          </a:r>
          <a:endParaRPr lang="en-US" sz="1400" b="0" baseline="0" dirty="0">
            <a:solidFill>
              <a:schemeClr val="tx1"/>
            </a:solidFill>
            <a:effectLst>
              <a:outerShdw blurRad="38100" dist="38100" dir="2700000" algn="tl">
                <a:srgbClr val="000000">
                  <a:alpha val="43137"/>
                </a:srgbClr>
              </a:outerShdw>
            </a:effectLst>
            <a:latin typeface="Calibri" panose="020F0502020204030204" pitchFamily="34" charset="0"/>
          </a:endParaRPr>
        </a:p>
      </dgm:t>
    </dgm:pt>
    <dgm:pt modelId="{11297E94-8679-4E92-8844-D44445091E15}" type="parTrans" cxnId="{AA9DEED2-983B-43AF-BDE6-D9FA9C13A34F}">
      <dgm:prSet/>
      <dgm:spPr/>
      <dgm:t>
        <a:bodyPr/>
        <a:lstStyle/>
        <a:p>
          <a:endParaRPr lang="en-US"/>
        </a:p>
      </dgm:t>
    </dgm:pt>
    <dgm:pt modelId="{3526D66A-A8DC-4E03-A109-7C24DCFD07E9}" type="sibTrans" cxnId="{AA9DEED2-983B-43AF-BDE6-D9FA9C13A34F}">
      <dgm:prSet/>
      <dgm:spPr/>
      <dgm:t>
        <a:bodyPr/>
        <a:lstStyle/>
        <a:p>
          <a:endParaRPr lang="en-US"/>
        </a:p>
      </dgm:t>
    </dgm:pt>
    <dgm:pt modelId="{CA533023-1729-452E-B7F5-E2D337A5A54E}">
      <dgm:prSet phldrT="[Text]" custT="1"/>
      <dgm:spPr>
        <a:solidFill>
          <a:schemeClr val="accent1">
            <a:alpha val="15000"/>
          </a:schemeClr>
        </a:solidFill>
      </dgm:spPr>
      <dgm:t>
        <a:bodyPr/>
        <a:lstStyle/>
        <a:p>
          <a:pPr marL="0" indent="0"/>
          <a:r>
            <a:rPr lang="en-US" sz="1400" b="0" dirty="0">
              <a:ln>
                <a:noFill/>
              </a:ln>
              <a:solidFill>
                <a:schemeClr val="tx1"/>
              </a:solidFill>
              <a:effectLst/>
              <a:latin typeface="Calibri" panose="020F0502020204030204" pitchFamily="34" charset="0"/>
            </a:rPr>
            <a:t>Informed Consent will be sought for each prospective subject</a:t>
          </a:r>
        </a:p>
      </dgm:t>
    </dgm:pt>
    <dgm:pt modelId="{9F1B9210-DAB0-46FD-8C1E-1994F5BC3F74}" type="parTrans" cxnId="{964975B6-9C0D-44A9-B903-4B0161AEECEC}">
      <dgm:prSet/>
      <dgm:spPr/>
      <dgm:t>
        <a:bodyPr/>
        <a:lstStyle/>
        <a:p>
          <a:endParaRPr lang="en-US"/>
        </a:p>
      </dgm:t>
    </dgm:pt>
    <dgm:pt modelId="{AC3174AE-9521-4011-A65C-8103FC3460D7}" type="sibTrans" cxnId="{964975B6-9C0D-44A9-B903-4B0161AEECEC}">
      <dgm:prSet/>
      <dgm:spPr/>
      <dgm:t>
        <a:bodyPr/>
        <a:lstStyle/>
        <a:p>
          <a:endParaRPr lang="en-US"/>
        </a:p>
      </dgm:t>
    </dgm:pt>
    <dgm:pt modelId="{BC1479DE-CF37-47BB-BF34-9663EA0EA6C1}">
      <dgm:prSet phldrT="[Text]" custT="1"/>
      <dgm:spPr>
        <a:solidFill>
          <a:schemeClr val="accent1">
            <a:alpha val="15000"/>
          </a:schemeClr>
        </a:solidFill>
      </dgm:spPr>
      <dgm:t>
        <a:bodyPr/>
        <a:lstStyle/>
        <a:p>
          <a:pPr marL="0" indent="0"/>
          <a:r>
            <a:rPr lang="en-US" sz="1400" b="0" dirty="0">
              <a:ln>
                <a:noFill/>
              </a:ln>
              <a:solidFill>
                <a:schemeClr val="tx1"/>
              </a:solidFill>
              <a:effectLst/>
              <a:latin typeface="Calibri" panose="020F0502020204030204" pitchFamily="34" charset="0"/>
            </a:rPr>
            <a:t>Informed Consent </a:t>
          </a:r>
          <a:r>
            <a:rPr lang="en-US" sz="1400" b="0" dirty="0">
              <a:ln>
                <a:noFill/>
              </a:ln>
              <a:solidFill>
                <a:schemeClr val="tx1"/>
              </a:solidFill>
              <a:effectLst/>
              <a:latin typeface="Arial" panose="020B0604020202020204" pitchFamily="34" charset="0"/>
              <a:cs typeface="Arial" panose="020B0604020202020204" pitchFamily="34" charset="0"/>
            </a:rPr>
            <a:t>will</a:t>
          </a:r>
          <a:r>
            <a:rPr lang="en-US" sz="1400" b="0" dirty="0">
              <a:ln>
                <a:noFill/>
              </a:ln>
              <a:solidFill>
                <a:schemeClr val="tx1"/>
              </a:solidFill>
              <a:effectLst/>
              <a:latin typeface="Calibri" panose="020F0502020204030204" pitchFamily="34" charset="0"/>
            </a:rPr>
            <a:t> be documented</a:t>
          </a:r>
        </a:p>
      </dgm:t>
    </dgm:pt>
    <dgm:pt modelId="{405BE400-7157-42B2-8830-E70FCFE47FEC}" type="parTrans" cxnId="{A56BBEFB-4AA7-43C7-9138-843564400150}">
      <dgm:prSet/>
      <dgm:spPr/>
      <dgm:t>
        <a:bodyPr/>
        <a:lstStyle/>
        <a:p>
          <a:endParaRPr lang="en-US"/>
        </a:p>
      </dgm:t>
    </dgm:pt>
    <dgm:pt modelId="{8F360873-FB46-44AD-860C-59B98F949DE1}" type="sibTrans" cxnId="{A56BBEFB-4AA7-43C7-9138-843564400150}">
      <dgm:prSet/>
      <dgm:spPr/>
      <dgm:t>
        <a:bodyPr/>
        <a:lstStyle/>
        <a:p>
          <a:endParaRPr lang="en-US"/>
        </a:p>
      </dgm:t>
    </dgm:pt>
    <dgm:pt modelId="{B8E62C37-10B4-4EA6-81B3-A89D851766B7}">
      <dgm:prSet phldrT="[Text]" custT="1"/>
      <dgm:spPr>
        <a:solidFill>
          <a:schemeClr val="accent1">
            <a:alpha val="15000"/>
          </a:schemeClr>
        </a:solidFill>
      </dgm:spPr>
      <dgm:t>
        <a:bodyPr/>
        <a:lstStyle/>
        <a:p>
          <a:pPr marL="0" indent="0"/>
          <a:r>
            <a:rPr lang="en-US" sz="1400" b="0" dirty="0">
              <a:ln>
                <a:noFill/>
              </a:ln>
              <a:solidFill>
                <a:schemeClr val="tx1"/>
              </a:solidFill>
              <a:effectLst/>
              <a:latin typeface="Calibri" panose="020F0502020204030204" pitchFamily="34" charset="0"/>
            </a:rPr>
            <a:t>Research plan adequately protects the privacy of subjects and maintains confidentiality of their data </a:t>
          </a:r>
        </a:p>
      </dgm:t>
    </dgm:pt>
    <dgm:pt modelId="{5667A3AC-F70D-472D-8E2D-5879564783CE}" type="parTrans" cxnId="{42E3F7DE-E870-41C4-A0B8-6DB2CAE6D295}">
      <dgm:prSet/>
      <dgm:spPr/>
      <dgm:t>
        <a:bodyPr/>
        <a:lstStyle/>
        <a:p>
          <a:endParaRPr lang="en-US"/>
        </a:p>
      </dgm:t>
    </dgm:pt>
    <dgm:pt modelId="{3A28E20B-85E1-4997-A9C3-A022C03241C7}" type="sibTrans" cxnId="{42E3F7DE-E870-41C4-A0B8-6DB2CAE6D295}">
      <dgm:prSet/>
      <dgm:spPr/>
      <dgm:t>
        <a:bodyPr/>
        <a:lstStyle/>
        <a:p>
          <a:endParaRPr lang="en-US"/>
        </a:p>
      </dgm:t>
    </dgm:pt>
    <dgm:pt modelId="{1ADD820D-1D89-4C6C-851B-1F052EC5F7FF}">
      <dgm:prSet phldrT="[Text]" custT="1"/>
      <dgm:spPr>
        <a:solidFill>
          <a:schemeClr val="accent1">
            <a:alpha val="15000"/>
          </a:schemeClr>
        </a:solidFill>
      </dgm:spPr>
      <dgm:t>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1400" b="0" baseline="0" dirty="0">
              <a:solidFill>
                <a:schemeClr val="tx1"/>
              </a:solidFill>
              <a:effectLst/>
              <a:latin typeface="Calibri" panose="020F0502020204030204" pitchFamily="34" charset="0"/>
            </a:rPr>
            <a:t>Research plan adequately provides for monitoring the data collected to ensure safety of subjects</a:t>
          </a:r>
        </a:p>
      </dgm:t>
    </dgm:pt>
    <dgm:pt modelId="{E41C6A88-ACAE-495D-93BC-D244EB5B4E44}" type="parTrans" cxnId="{3C632EC1-CDAD-40C4-AE90-2D3FD050E3AF}">
      <dgm:prSet/>
      <dgm:spPr/>
      <dgm:t>
        <a:bodyPr/>
        <a:lstStyle/>
        <a:p>
          <a:endParaRPr lang="en-US"/>
        </a:p>
      </dgm:t>
    </dgm:pt>
    <dgm:pt modelId="{799AE283-22B9-4EE1-94CE-9F561D70CC6E}" type="sibTrans" cxnId="{3C632EC1-CDAD-40C4-AE90-2D3FD050E3AF}">
      <dgm:prSet/>
      <dgm:spPr/>
      <dgm:t>
        <a:bodyPr/>
        <a:lstStyle/>
        <a:p>
          <a:endParaRPr lang="en-US"/>
        </a:p>
      </dgm:t>
    </dgm:pt>
    <dgm:pt modelId="{E24743F1-08EE-462F-9641-14EE5026AB0E}">
      <dgm:prSet phldrT="[Text]" custT="1"/>
      <dgm:spPr>
        <a:solidFill>
          <a:schemeClr val="accent1">
            <a:alpha val="15000"/>
          </a:schemeClr>
        </a:solidFill>
      </dgm:spPr>
      <dgm:t>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1400" b="0" baseline="0" dirty="0">
              <a:solidFill>
                <a:schemeClr val="tx1"/>
              </a:solidFill>
              <a:effectLst/>
              <a:latin typeface="Calibri" panose="020F0502020204030204" pitchFamily="34" charset="0"/>
            </a:rPr>
            <a:t>When some or all of the subjects are likely to be vulnerable to coercion or undue influence (</a:t>
          </a:r>
          <a:r>
            <a:rPr lang="en-US" sz="1400" b="0" baseline="0" dirty="0" err="1">
              <a:solidFill>
                <a:schemeClr val="tx1"/>
              </a:solidFill>
              <a:effectLst/>
              <a:latin typeface="Calibri" panose="020F0502020204030204" pitchFamily="34" charset="0"/>
            </a:rPr>
            <a:t>i.e</a:t>
          </a:r>
          <a:r>
            <a:rPr lang="en-US" sz="1400" b="0" baseline="0" dirty="0">
              <a:solidFill>
                <a:schemeClr val="tx1"/>
              </a:solidFill>
              <a:effectLst/>
              <a:latin typeface="Calibri" panose="020F0502020204030204" pitchFamily="34" charset="0"/>
            </a:rPr>
            <a:t>, children and prisoners), additional safeguards need to be included in the protocol to protect the rights and welfare of these subjects</a:t>
          </a:r>
        </a:p>
      </dgm:t>
    </dgm:pt>
    <dgm:pt modelId="{C1561017-664A-4782-A383-30E89A27FBA0}" type="parTrans" cxnId="{1A1EC70D-A746-413F-9B77-43F83FC4AD60}">
      <dgm:prSet/>
      <dgm:spPr/>
      <dgm:t>
        <a:bodyPr/>
        <a:lstStyle/>
        <a:p>
          <a:endParaRPr lang="en-US"/>
        </a:p>
      </dgm:t>
    </dgm:pt>
    <dgm:pt modelId="{8D675E14-BE10-4E36-9444-E0D5BB7BA381}" type="sibTrans" cxnId="{1A1EC70D-A746-413F-9B77-43F83FC4AD60}">
      <dgm:prSet/>
      <dgm:spPr/>
      <dgm:t>
        <a:bodyPr/>
        <a:lstStyle/>
        <a:p>
          <a:endParaRPr lang="en-US"/>
        </a:p>
      </dgm:t>
    </dgm:pt>
    <dgm:pt modelId="{6F71698B-37EB-4EE0-8C37-D7C5A3CFA614}">
      <dgm:prSet phldrT="[Text]" custT="1"/>
      <dgm:spPr>
        <a:solidFill>
          <a:schemeClr val="accent1">
            <a:alpha val="15000"/>
          </a:schemeClr>
        </a:solidFill>
      </dgm:spPr>
      <dgm:t>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1400" b="0" baseline="0" dirty="0">
              <a:solidFill>
                <a:schemeClr val="tx1"/>
              </a:solidFill>
              <a:effectLst/>
              <a:latin typeface="Calibri" panose="020F0502020204030204" pitchFamily="34" charset="0"/>
            </a:rPr>
            <a:t>Risks are reasonable in </a:t>
          </a:r>
          <a:r>
            <a:rPr lang="en-US" sz="1400" b="0" baseline="0" dirty="0">
              <a:solidFill>
                <a:schemeClr val="tx1"/>
              </a:solidFill>
              <a:effectLst/>
              <a:latin typeface="Arial" panose="020B0604020202020204" pitchFamily="34" charset="0"/>
              <a:cs typeface="Arial" panose="020B0604020202020204" pitchFamily="34" charset="0"/>
            </a:rPr>
            <a:t>relation</a:t>
          </a:r>
          <a:r>
            <a:rPr lang="en-US" sz="1400" b="0" baseline="0" dirty="0">
              <a:solidFill>
                <a:schemeClr val="tx1"/>
              </a:solidFill>
              <a:effectLst/>
              <a:latin typeface="Calibri" panose="020F0502020204030204" pitchFamily="34" charset="0"/>
            </a:rPr>
            <a:t> to benefits</a:t>
          </a:r>
          <a:endParaRPr lang="en-US" sz="1400" b="0" baseline="0" dirty="0">
            <a:solidFill>
              <a:schemeClr val="tx1"/>
            </a:solidFill>
            <a:effectLst>
              <a:outerShdw blurRad="38100" dist="38100" dir="2700000" algn="tl">
                <a:srgbClr val="000000">
                  <a:alpha val="43137"/>
                </a:srgbClr>
              </a:outerShdw>
            </a:effectLst>
            <a:latin typeface="Calibri" panose="020F0502020204030204" pitchFamily="34" charset="0"/>
          </a:endParaRPr>
        </a:p>
      </dgm:t>
    </dgm:pt>
    <dgm:pt modelId="{D04904FF-3CFE-47B5-BC41-7BFFABA3E5F2}" type="parTrans" cxnId="{3940255C-1A8A-4BF7-8E95-7DE2480D70AE}">
      <dgm:prSet/>
      <dgm:spPr/>
      <dgm:t>
        <a:bodyPr/>
        <a:lstStyle/>
        <a:p>
          <a:endParaRPr lang="en-US"/>
        </a:p>
      </dgm:t>
    </dgm:pt>
    <dgm:pt modelId="{EAF40C0E-9F20-467B-A074-B894C05A6E4E}" type="sibTrans" cxnId="{3940255C-1A8A-4BF7-8E95-7DE2480D70AE}">
      <dgm:prSet/>
      <dgm:spPr/>
      <dgm:t>
        <a:bodyPr/>
        <a:lstStyle/>
        <a:p>
          <a:endParaRPr lang="en-US"/>
        </a:p>
      </dgm:t>
    </dgm:pt>
    <dgm:pt modelId="{AAE7A1E6-6847-453D-B55B-8A82BF138C1D}" type="pres">
      <dgm:prSet presAssocID="{F6FEADD9-F67D-41F5-BA4C-3C84956E7F46}" presName="Name0" presStyleCnt="0">
        <dgm:presLayoutVars>
          <dgm:dir/>
          <dgm:animLvl val="lvl"/>
          <dgm:resizeHandles val="exact"/>
        </dgm:presLayoutVars>
      </dgm:prSet>
      <dgm:spPr/>
    </dgm:pt>
    <dgm:pt modelId="{C4407577-18A2-46E0-8805-2838042EB67A}" type="pres">
      <dgm:prSet presAssocID="{74EE5CD8-078F-4590-BF9C-A341A294A016}" presName="linNode" presStyleCnt="0"/>
      <dgm:spPr/>
    </dgm:pt>
    <dgm:pt modelId="{7E429971-BC57-430F-BB25-C0574E5E39E3}" type="pres">
      <dgm:prSet presAssocID="{74EE5CD8-078F-4590-BF9C-A341A294A016}" presName="parentText" presStyleLbl="node1" presStyleIdx="0" presStyleCnt="3" custScaleX="72442" custScaleY="78978" custLinFactNeighborX="-11609" custLinFactNeighborY="-4862">
        <dgm:presLayoutVars>
          <dgm:chMax val="1"/>
          <dgm:bulletEnabled val="1"/>
        </dgm:presLayoutVars>
      </dgm:prSet>
      <dgm:spPr>
        <a:prstGeom prst="roundRect">
          <a:avLst/>
        </a:prstGeom>
      </dgm:spPr>
    </dgm:pt>
    <dgm:pt modelId="{D54B1729-BC98-42C1-9C6C-D65DCBA4358F}" type="pres">
      <dgm:prSet presAssocID="{74EE5CD8-078F-4590-BF9C-A341A294A016}" presName="descendantText" presStyleLbl="alignAccFollowNode1" presStyleIdx="0" presStyleCnt="3" custScaleX="114309" custScaleY="117506" custLinFactNeighborX="7030">
        <dgm:presLayoutVars>
          <dgm:bulletEnabled val="1"/>
        </dgm:presLayoutVars>
      </dgm:prSet>
      <dgm:spPr>
        <a:prstGeom prst="roundRect">
          <a:avLst/>
        </a:prstGeom>
      </dgm:spPr>
    </dgm:pt>
    <dgm:pt modelId="{AB8574CC-D4F2-4555-AEE3-F4EE58B11D03}" type="pres">
      <dgm:prSet presAssocID="{CF9FB981-E6ED-4440-AC98-4E4E2ABA2C55}" presName="sp" presStyleCnt="0"/>
      <dgm:spPr/>
    </dgm:pt>
    <dgm:pt modelId="{85B8F607-FDD8-476A-ADBE-E1250824F294}" type="pres">
      <dgm:prSet presAssocID="{AA046201-5C4D-445E-BF0B-5C6D2B0A1945}" presName="linNode" presStyleCnt="0"/>
      <dgm:spPr/>
    </dgm:pt>
    <dgm:pt modelId="{C04276DC-EE64-470A-B8BC-09067B8045FA}" type="pres">
      <dgm:prSet presAssocID="{AA046201-5C4D-445E-BF0B-5C6D2B0A1945}" presName="parentText" presStyleLbl="node1" presStyleIdx="1" presStyleCnt="3" custScaleX="156057" custScaleY="77694">
        <dgm:presLayoutVars>
          <dgm:chMax val="1"/>
          <dgm:bulletEnabled val="1"/>
        </dgm:presLayoutVars>
      </dgm:prSet>
      <dgm:spPr>
        <a:prstGeom prst="roundRect">
          <a:avLst/>
        </a:prstGeom>
      </dgm:spPr>
    </dgm:pt>
    <dgm:pt modelId="{B37A5355-225B-4C6F-AED7-6C620F99EECC}" type="pres">
      <dgm:prSet presAssocID="{AA046201-5C4D-445E-BF0B-5C6D2B0A1945}" presName="descendantText" presStyleLbl="alignAccFollowNode1" presStyleIdx="1" presStyleCnt="3" custScaleX="236027" custScaleY="136624" custLinFactNeighborX="1535" custLinFactNeighborY="498">
        <dgm:presLayoutVars>
          <dgm:bulletEnabled val="1"/>
        </dgm:presLayoutVars>
      </dgm:prSet>
      <dgm:spPr>
        <a:prstGeom prst="roundRect">
          <a:avLst/>
        </a:prstGeom>
      </dgm:spPr>
    </dgm:pt>
    <dgm:pt modelId="{5ACAA866-A8A8-4183-97B5-CEEAB1525C60}" type="pres">
      <dgm:prSet presAssocID="{40767EFF-7D52-4469-ACEE-7D28E67337E2}" presName="sp" presStyleCnt="0"/>
      <dgm:spPr/>
    </dgm:pt>
    <dgm:pt modelId="{477213BE-9E91-4950-8451-7F60796F47F4}" type="pres">
      <dgm:prSet presAssocID="{D1776C8F-2B10-4075-8DF7-7F65AB725ED5}" presName="linNode" presStyleCnt="0"/>
      <dgm:spPr/>
    </dgm:pt>
    <dgm:pt modelId="{F5034101-5B7D-4FE7-B47A-5A48CF39606B}" type="pres">
      <dgm:prSet presAssocID="{D1776C8F-2B10-4075-8DF7-7F65AB725ED5}" presName="parentText" presStyleLbl="node1" presStyleIdx="2" presStyleCnt="3" custScaleX="154986" custScaleY="82007" custLinFactNeighborX="-14230" custLinFactNeighborY="3996">
        <dgm:presLayoutVars>
          <dgm:chMax val="1"/>
          <dgm:bulletEnabled val="1"/>
        </dgm:presLayoutVars>
      </dgm:prSet>
      <dgm:spPr>
        <a:prstGeom prst="roundRect">
          <a:avLst/>
        </a:prstGeom>
      </dgm:spPr>
    </dgm:pt>
    <dgm:pt modelId="{C7C3E6FD-D83F-4BDA-907E-B5EE041DA931}" type="pres">
      <dgm:prSet presAssocID="{D1776C8F-2B10-4075-8DF7-7F65AB725ED5}" presName="descendantText" presStyleLbl="alignAccFollowNode1" presStyleIdx="2" presStyleCnt="3" custScaleX="235383" custScaleY="81902" custLinFactNeighborX="-762" custLinFactNeighborY="1063">
        <dgm:presLayoutVars>
          <dgm:bulletEnabled val="1"/>
        </dgm:presLayoutVars>
      </dgm:prSet>
      <dgm:spPr>
        <a:prstGeom prst="roundRect">
          <a:avLst/>
        </a:prstGeom>
      </dgm:spPr>
    </dgm:pt>
  </dgm:ptLst>
  <dgm:cxnLst>
    <dgm:cxn modelId="{6F284301-D1EE-42BE-A44C-174F86456483}" type="presOf" srcId="{5A8F723F-60B8-4FFF-AB9C-25A1A6A59B92}" destId="{B37A5355-225B-4C6F-AED7-6C620F99EECC}" srcOrd="0" destOrd="0" presId="urn:microsoft.com/office/officeart/2005/8/layout/vList5"/>
    <dgm:cxn modelId="{1A1EC70D-A746-413F-9B77-43F83FC4AD60}" srcId="{AA046201-5C4D-445E-BF0B-5C6D2B0A1945}" destId="{E24743F1-08EE-462F-9641-14EE5026AB0E}" srcOrd="3" destOrd="0" parTransId="{C1561017-664A-4782-A383-30E89A27FBA0}" sibTransId="{8D675E14-BE10-4E36-9444-E0D5BB7BA381}"/>
    <dgm:cxn modelId="{3940255C-1A8A-4BF7-8E95-7DE2480D70AE}" srcId="{AA046201-5C4D-445E-BF0B-5C6D2B0A1945}" destId="{6F71698B-37EB-4EE0-8C37-D7C5A3CFA614}" srcOrd="1" destOrd="0" parTransId="{D04904FF-3CFE-47B5-BC41-7BFFABA3E5F2}" sibTransId="{EAF40C0E-9F20-467B-A074-B894C05A6E4E}"/>
    <dgm:cxn modelId="{F40F9561-0D4C-44CF-91EF-A92B1DBDE44B}" srcId="{F6FEADD9-F67D-41F5-BA4C-3C84956E7F46}" destId="{74EE5CD8-078F-4590-BF9C-A341A294A016}" srcOrd="0" destOrd="0" parTransId="{BB568D76-3363-43D3-B00C-3359A643216C}" sibTransId="{CF9FB981-E6ED-4440-AC98-4E4E2ABA2C55}"/>
    <dgm:cxn modelId="{BD157C63-E288-43C9-8A4B-421F16B7949B}" type="presOf" srcId="{B8E62C37-10B4-4EA6-81B3-A89D851766B7}" destId="{D54B1729-BC98-42C1-9C6C-D65DCBA4358F}" srcOrd="0" destOrd="2" presId="urn:microsoft.com/office/officeart/2005/8/layout/vList5"/>
    <dgm:cxn modelId="{90B5F152-3635-4593-8C1F-CF2D59181C60}" type="presOf" srcId="{D1776C8F-2B10-4075-8DF7-7F65AB725ED5}" destId="{F5034101-5B7D-4FE7-B47A-5A48CF39606B}" srcOrd="0" destOrd="0" presId="urn:microsoft.com/office/officeart/2005/8/layout/vList5"/>
    <dgm:cxn modelId="{16920A7F-177F-403D-94F1-05329E0156FD}" type="presOf" srcId="{F6FEADD9-F67D-41F5-BA4C-3C84956E7F46}" destId="{AAE7A1E6-6847-453D-B55B-8A82BF138C1D}" srcOrd="0" destOrd="0" presId="urn:microsoft.com/office/officeart/2005/8/layout/vList5"/>
    <dgm:cxn modelId="{B8AF1086-D7BE-446F-9133-738B599E9A7D}" srcId="{F6FEADD9-F67D-41F5-BA4C-3C84956E7F46}" destId="{AA046201-5C4D-445E-BF0B-5C6D2B0A1945}" srcOrd="1" destOrd="0" parTransId="{FE92FC33-5E0F-4302-9E80-A69E8ACDDE56}" sibTransId="{40767EFF-7D52-4469-ACEE-7D28E67337E2}"/>
    <dgm:cxn modelId="{B2B6938B-CFD5-4A26-B3EF-D94E06700D8A}" type="presOf" srcId="{1ADD820D-1D89-4C6C-851B-1F052EC5F7FF}" destId="{B37A5355-225B-4C6F-AED7-6C620F99EECC}" srcOrd="0" destOrd="2" presId="urn:microsoft.com/office/officeart/2005/8/layout/vList5"/>
    <dgm:cxn modelId="{7077B78D-FCDC-4519-8416-DC357ACD5043}" srcId="{F6FEADD9-F67D-41F5-BA4C-3C84956E7F46}" destId="{D1776C8F-2B10-4075-8DF7-7F65AB725ED5}" srcOrd="2" destOrd="0" parTransId="{7291E740-3E17-41B3-99D3-1D67AE37CC3F}" sibTransId="{88B75C29-8054-417D-BCE3-878A55118F6D}"/>
    <dgm:cxn modelId="{56D6259F-058B-4D6F-A774-61448052D534}" type="presOf" srcId="{E24743F1-08EE-462F-9641-14EE5026AB0E}" destId="{B37A5355-225B-4C6F-AED7-6C620F99EECC}" srcOrd="0" destOrd="3" presId="urn:microsoft.com/office/officeart/2005/8/layout/vList5"/>
    <dgm:cxn modelId="{C4DCEEAF-477F-411C-92A2-8938C4A5437B}" type="presOf" srcId="{CA533023-1729-452E-B7F5-E2D337A5A54E}" destId="{D54B1729-BC98-42C1-9C6C-D65DCBA4358F}" srcOrd="0" destOrd="0" presId="urn:microsoft.com/office/officeart/2005/8/layout/vList5"/>
    <dgm:cxn modelId="{964975B6-9C0D-44A9-B903-4B0161AEECEC}" srcId="{74EE5CD8-078F-4590-BF9C-A341A294A016}" destId="{CA533023-1729-452E-B7F5-E2D337A5A54E}" srcOrd="0" destOrd="0" parTransId="{9F1B9210-DAB0-46FD-8C1E-1994F5BC3F74}" sibTransId="{AC3174AE-9521-4011-A65C-8103FC3460D7}"/>
    <dgm:cxn modelId="{801EEFB7-2984-4141-919F-4A6D66C16038}" type="presOf" srcId="{6BE4E373-0656-4EDC-821E-BE09C952B1F6}" destId="{C7C3E6FD-D83F-4BDA-907E-B5EE041DA931}" srcOrd="0" destOrd="0" presId="urn:microsoft.com/office/officeart/2005/8/layout/vList5"/>
    <dgm:cxn modelId="{A8B732B8-E2F4-4576-BB57-84E99CF04451}" type="presOf" srcId="{74EE5CD8-078F-4590-BF9C-A341A294A016}" destId="{7E429971-BC57-430F-BB25-C0574E5E39E3}" srcOrd="0" destOrd="0" presId="urn:microsoft.com/office/officeart/2005/8/layout/vList5"/>
    <dgm:cxn modelId="{3C632EC1-CDAD-40C4-AE90-2D3FD050E3AF}" srcId="{AA046201-5C4D-445E-BF0B-5C6D2B0A1945}" destId="{1ADD820D-1D89-4C6C-851B-1F052EC5F7FF}" srcOrd="2" destOrd="0" parTransId="{E41C6A88-ACAE-495D-93BC-D244EB5B4E44}" sibTransId="{799AE283-22B9-4EE1-94CE-9F561D70CC6E}"/>
    <dgm:cxn modelId="{AC3336CD-D717-4C1A-9B9B-664FF2277C82}" type="presOf" srcId="{AA046201-5C4D-445E-BF0B-5C6D2B0A1945}" destId="{C04276DC-EE64-470A-B8BC-09067B8045FA}" srcOrd="0" destOrd="0" presId="urn:microsoft.com/office/officeart/2005/8/layout/vList5"/>
    <dgm:cxn modelId="{AA9DEED2-983B-43AF-BDE6-D9FA9C13A34F}" srcId="{AA046201-5C4D-445E-BF0B-5C6D2B0A1945}" destId="{5A8F723F-60B8-4FFF-AB9C-25A1A6A59B92}" srcOrd="0" destOrd="0" parTransId="{11297E94-8679-4E92-8844-D44445091E15}" sibTransId="{3526D66A-A8DC-4E03-A109-7C24DCFD07E9}"/>
    <dgm:cxn modelId="{119690D4-400B-468B-8BA0-5C9C9E2AFEAF}" srcId="{D1776C8F-2B10-4075-8DF7-7F65AB725ED5}" destId="{6BE4E373-0656-4EDC-821E-BE09C952B1F6}" srcOrd="0" destOrd="0" parTransId="{34218063-BF94-4304-99BD-B3F7BA4D3C8F}" sibTransId="{E17B9BF1-2948-497F-8EC7-3BF734D839DB}"/>
    <dgm:cxn modelId="{42E3F7DE-E870-41C4-A0B8-6DB2CAE6D295}" srcId="{74EE5CD8-078F-4590-BF9C-A341A294A016}" destId="{B8E62C37-10B4-4EA6-81B3-A89D851766B7}" srcOrd="2" destOrd="0" parTransId="{5667A3AC-F70D-472D-8E2D-5879564783CE}" sibTransId="{3A28E20B-85E1-4997-A9C3-A022C03241C7}"/>
    <dgm:cxn modelId="{AE1DE4EF-D337-4D8C-B4DF-B17327023B35}" type="presOf" srcId="{BC1479DE-CF37-47BB-BF34-9663EA0EA6C1}" destId="{D54B1729-BC98-42C1-9C6C-D65DCBA4358F}" srcOrd="0" destOrd="1" presId="urn:microsoft.com/office/officeart/2005/8/layout/vList5"/>
    <dgm:cxn modelId="{9FB9F8F8-24DA-4457-A071-91D5F2CE0353}" type="presOf" srcId="{6F71698B-37EB-4EE0-8C37-D7C5A3CFA614}" destId="{B37A5355-225B-4C6F-AED7-6C620F99EECC}" srcOrd="0" destOrd="1" presId="urn:microsoft.com/office/officeart/2005/8/layout/vList5"/>
    <dgm:cxn modelId="{A56BBEFB-4AA7-43C7-9138-843564400150}" srcId="{74EE5CD8-078F-4590-BF9C-A341A294A016}" destId="{BC1479DE-CF37-47BB-BF34-9663EA0EA6C1}" srcOrd="1" destOrd="0" parTransId="{405BE400-7157-42B2-8830-E70FCFE47FEC}" sibTransId="{8F360873-FB46-44AD-860C-59B98F949DE1}"/>
    <dgm:cxn modelId="{B8694718-677C-4FC3-8C69-A6BCBBF2EFDF}" type="presParOf" srcId="{AAE7A1E6-6847-453D-B55B-8A82BF138C1D}" destId="{C4407577-18A2-46E0-8805-2838042EB67A}" srcOrd="0" destOrd="0" presId="urn:microsoft.com/office/officeart/2005/8/layout/vList5"/>
    <dgm:cxn modelId="{3FDF8ADE-5E30-4EFB-B70C-F2EB9105B609}" type="presParOf" srcId="{C4407577-18A2-46E0-8805-2838042EB67A}" destId="{7E429971-BC57-430F-BB25-C0574E5E39E3}" srcOrd="0" destOrd="0" presId="urn:microsoft.com/office/officeart/2005/8/layout/vList5"/>
    <dgm:cxn modelId="{155C4AC4-3451-4BB9-BD2B-4B13249FA8B1}" type="presParOf" srcId="{C4407577-18A2-46E0-8805-2838042EB67A}" destId="{D54B1729-BC98-42C1-9C6C-D65DCBA4358F}" srcOrd="1" destOrd="0" presId="urn:microsoft.com/office/officeart/2005/8/layout/vList5"/>
    <dgm:cxn modelId="{665FA593-AD5C-4B40-9185-B78520C6A36F}" type="presParOf" srcId="{AAE7A1E6-6847-453D-B55B-8A82BF138C1D}" destId="{AB8574CC-D4F2-4555-AEE3-F4EE58B11D03}" srcOrd="1" destOrd="0" presId="urn:microsoft.com/office/officeart/2005/8/layout/vList5"/>
    <dgm:cxn modelId="{A2DE586E-ABE1-4665-8FB6-774F324E478E}" type="presParOf" srcId="{AAE7A1E6-6847-453D-B55B-8A82BF138C1D}" destId="{85B8F607-FDD8-476A-ADBE-E1250824F294}" srcOrd="2" destOrd="0" presId="urn:microsoft.com/office/officeart/2005/8/layout/vList5"/>
    <dgm:cxn modelId="{40532A29-EEBB-4BB3-8820-93E114BF9C65}" type="presParOf" srcId="{85B8F607-FDD8-476A-ADBE-E1250824F294}" destId="{C04276DC-EE64-470A-B8BC-09067B8045FA}" srcOrd="0" destOrd="0" presId="urn:microsoft.com/office/officeart/2005/8/layout/vList5"/>
    <dgm:cxn modelId="{78AC7427-595E-4182-8B4A-86EEF79A0D1A}" type="presParOf" srcId="{85B8F607-FDD8-476A-ADBE-E1250824F294}" destId="{B37A5355-225B-4C6F-AED7-6C620F99EECC}" srcOrd="1" destOrd="0" presId="urn:microsoft.com/office/officeart/2005/8/layout/vList5"/>
    <dgm:cxn modelId="{C43BF9A9-CDEC-4148-8CDC-1677E570A684}" type="presParOf" srcId="{AAE7A1E6-6847-453D-B55B-8A82BF138C1D}" destId="{5ACAA866-A8A8-4183-97B5-CEEAB1525C60}" srcOrd="3" destOrd="0" presId="urn:microsoft.com/office/officeart/2005/8/layout/vList5"/>
    <dgm:cxn modelId="{1434A53F-336D-4326-AC45-538B9D39BBE4}" type="presParOf" srcId="{AAE7A1E6-6847-453D-B55B-8A82BF138C1D}" destId="{477213BE-9E91-4950-8451-7F60796F47F4}" srcOrd="4" destOrd="0" presId="urn:microsoft.com/office/officeart/2005/8/layout/vList5"/>
    <dgm:cxn modelId="{0E3815E2-1F75-47A9-BAB6-646872A39EB7}" type="presParOf" srcId="{477213BE-9E91-4950-8451-7F60796F47F4}" destId="{F5034101-5B7D-4FE7-B47A-5A48CF39606B}" srcOrd="0" destOrd="0" presId="urn:microsoft.com/office/officeart/2005/8/layout/vList5"/>
    <dgm:cxn modelId="{23A02A46-8E9C-446C-8B05-A34F0A1C48AB}" type="presParOf" srcId="{477213BE-9E91-4950-8451-7F60796F47F4}" destId="{C7C3E6FD-D83F-4BDA-907E-B5EE041DA93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4418880" y="-3067668"/>
          <a:ext cx="894278" cy="7031960"/>
        </a:xfrm>
        <a:prstGeom prst="roundRect">
          <a:avLst/>
        </a:prstGeom>
        <a:solidFill>
          <a:schemeClr val="accent1">
            <a:alpha val="1500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8580" tIns="34290" rIns="68580" bIns="34290" numCol="1" spcCol="1270" anchor="ctr" anchorCtr="0">
          <a:noAutofit/>
        </a:bodyPr>
        <a:lstStyle/>
        <a:p>
          <a:pPr marL="0" lvl="1" indent="0" algn="l" defTabSz="800100">
            <a:lnSpc>
              <a:spcPct val="90000"/>
            </a:lnSpc>
            <a:spcBef>
              <a:spcPct val="0"/>
            </a:spcBef>
            <a:spcAft>
              <a:spcPct val="15000"/>
            </a:spcAft>
            <a:buChar char="•"/>
          </a:pPr>
          <a:r>
            <a:rPr lang="en-US" sz="1800" b="0" kern="1200" dirty="0">
              <a:latin typeface="Calibri" panose="020F0502020204030204" pitchFamily="34" charset="0"/>
            </a:rPr>
            <a:t>Consists of well qualified faculty, staff, and representatives from the community. </a:t>
          </a:r>
          <a:endParaRPr lang="en-US" sz="1800" b="0" kern="1200" dirty="0">
            <a:solidFill>
              <a:schemeClr val="bg1"/>
            </a:solidFill>
            <a:effectLst>
              <a:outerShdw blurRad="38100" dist="38100" dir="2700000" algn="tl">
                <a:srgbClr val="000000">
                  <a:alpha val="43137"/>
                </a:srgbClr>
              </a:outerShdw>
            </a:effectLst>
            <a:latin typeface="Calibri" panose="020F0502020204030204" pitchFamily="34" charset="0"/>
          </a:endParaRPr>
        </a:p>
      </dsp:txBody>
      <dsp:txXfrm rot="-5400000">
        <a:off x="1393694" y="44828"/>
        <a:ext cx="6944650" cy="806968"/>
      </dsp:txXfrm>
    </dsp:sp>
    <dsp:sp modelId="{7E429971-BC57-430F-BB25-C0574E5E39E3}">
      <dsp:nvSpPr>
        <dsp:cNvPr id="0" name=""/>
        <dsp:cNvSpPr/>
      </dsp:nvSpPr>
      <dsp:spPr>
        <a:xfrm>
          <a:off x="3965" y="0"/>
          <a:ext cx="1338755" cy="882854"/>
        </a:xfrm>
        <a:prstGeom prst="roundRect">
          <a:avLst/>
        </a:prstGeom>
        <a:solidFill>
          <a:schemeClr val="tx1">
            <a:lumMod val="65000"/>
            <a:lumOff val="3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kern="12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IRB</a:t>
          </a:r>
        </a:p>
        <a:p>
          <a:pPr marL="0" lvl="0" indent="0" algn="ctr" defTabSz="622300">
            <a:lnSpc>
              <a:spcPct val="90000"/>
            </a:lnSpc>
            <a:spcBef>
              <a:spcPct val="0"/>
            </a:spcBef>
            <a:spcAft>
              <a:spcPct val="35000"/>
            </a:spcAft>
            <a:buNone/>
          </a:pPr>
          <a:r>
            <a:rPr lang="en-US" sz="1400" b="1" kern="12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Membership</a:t>
          </a:r>
          <a:endParaRPr lang="en-US" sz="1400" b="1" kern="1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dsp:txBody>
      <dsp:txXfrm>
        <a:off x="47062" y="43097"/>
        <a:ext cx="1252561" cy="796660"/>
      </dsp:txXfrm>
    </dsp:sp>
    <dsp:sp modelId="{B37A5355-225B-4C6F-AED7-6C620F99EECC}">
      <dsp:nvSpPr>
        <dsp:cNvPr id="0" name=""/>
        <dsp:cNvSpPr/>
      </dsp:nvSpPr>
      <dsp:spPr>
        <a:xfrm rot="5400000">
          <a:off x="4418880" y="-2117497"/>
          <a:ext cx="894278" cy="7031960"/>
        </a:xfrm>
        <a:prstGeom prst="roundRect">
          <a:avLst/>
        </a:prstGeom>
        <a:solidFill>
          <a:schemeClr val="accent1">
            <a:alpha val="1500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8580" tIns="34290" rIns="68580" bIns="34290" numCol="1" spcCol="1270" anchor="ctr" anchorCtr="0">
          <a:noAutofit/>
        </a:bodyPr>
        <a:lstStyle/>
        <a:p>
          <a:pPr marL="0" marR="0" lvl="1" indent="0" algn="l" defTabSz="914400" eaLnBrk="1" fontAlgn="auto" latinLnBrk="0" hangingPunct="1">
            <a:lnSpc>
              <a:spcPct val="100000"/>
            </a:lnSpc>
            <a:spcBef>
              <a:spcPts val="0"/>
            </a:spcBef>
            <a:spcAft>
              <a:spcPts val="0"/>
            </a:spcAft>
            <a:buClrTx/>
            <a:buSzTx/>
            <a:buFontTx/>
            <a:buNone/>
            <a:tabLst/>
            <a:defRPr/>
          </a:pPr>
          <a:r>
            <a:rPr lang="en-US" sz="1800" b="0" kern="1200" dirty="0">
              <a:latin typeface="Calibri" panose="020F0502020204030204" pitchFamily="34" charset="0"/>
            </a:rPr>
            <a:t> The IRB has the authority to review, approve, disapprove, suspend and monitor all research proposed </a:t>
          </a:r>
          <a:r>
            <a:rPr lang="en-US" sz="1800" b="0" kern="1200" dirty="0">
              <a:solidFill>
                <a:schemeClr val="tx1"/>
              </a:solidFill>
              <a:latin typeface="Calibri" panose="020F0502020204030204" pitchFamily="34" charset="0"/>
            </a:rPr>
            <a:t>or approved </a:t>
          </a:r>
          <a:r>
            <a:rPr lang="en-US" sz="1800" b="0" kern="1200" dirty="0">
              <a:latin typeface="Calibri" panose="020F0502020204030204" pitchFamily="34" charset="0"/>
            </a:rPr>
            <a:t>to include human subjects.  </a:t>
          </a:r>
          <a:endParaRPr lang="en-US" sz="1800" b="0" kern="1200" dirty="0">
            <a:solidFill>
              <a:schemeClr val="bg1"/>
            </a:solidFill>
            <a:effectLst>
              <a:outerShdw blurRad="38100" dist="38100" dir="2700000" algn="tl">
                <a:srgbClr val="000000">
                  <a:alpha val="43137"/>
                </a:srgbClr>
              </a:outerShdw>
            </a:effectLst>
            <a:latin typeface="Calibri" panose="020F0502020204030204" pitchFamily="34" charset="0"/>
          </a:endParaRPr>
        </a:p>
      </dsp:txBody>
      <dsp:txXfrm rot="-5400000">
        <a:off x="1393694" y="994999"/>
        <a:ext cx="6944650" cy="806968"/>
      </dsp:txXfrm>
    </dsp:sp>
    <dsp:sp modelId="{C04276DC-EE64-470A-B8BC-09067B8045FA}">
      <dsp:nvSpPr>
        <dsp:cNvPr id="0" name=""/>
        <dsp:cNvSpPr/>
      </dsp:nvSpPr>
      <dsp:spPr>
        <a:xfrm>
          <a:off x="3965" y="964231"/>
          <a:ext cx="1340156" cy="868500"/>
        </a:xfrm>
        <a:prstGeom prst="roundRect">
          <a:avLst/>
        </a:prstGeom>
        <a:solidFill>
          <a:schemeClr val="tx1">
            <a:lumMod val="65000"/>
            <a:lumOff val="3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Authority</a:t>
          </a:r>
        </a:p>
      </dsp:txBody>
      <dsp:txXfrm>
        <a:off x="46362" y="1006628"/>
        <a:ext cx="1255362" cy="783706"/>
      </dsp:txXfrm>
    </dsp:sp>
    <dsp:sp modelId="{C7C3E6FD-D83F-4BDA-907E-B5EE041DA931}">
      <dsp:nvSpPr>
        <dsp:cNvPr id="0" name=""/>
        <dsp:cNvSpPr/>
      </dsp:nvSpPr>
      <dsp:spPr>
        <a:xfrm rot="5400000">
          <a:off x="4408114" y="-1162910"/>
          <a:ext cx="894278" cy="7045562"/>
        </a:xfrm>
        <a:prstGeom prst="roundRect">
          <a:avLst/>
        </a:prstGeom>
        <a:solidFill>
          <a:schemeClr val="accent1">
            <a:alpha val="1500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68580" tIns="34290" rIns="68580" bIns="34290" numCol="1" spcCol="1270" anchor="ctr" anchorCtr="0">
          <a:noAutofit/>
        </a:bodyPr>
        <a:lstStyle/>
        <a:p>
          <a:pPr marL="0" lvl="1" indent="0" algn="l" defTabSz="800100">
            <a:lnSpc>
              <a:spcPct val="90000"/>
            </a:lnSpc>
            <a:spcBef>
              <a:spcPct val="0"/>
            </a:spcBef>
            <a:spcAft>
              <a:spcPct val="15000"/>
            </a:spcAft>
            <a:buChar char="•"/>
          </a:pPr>
          <a:r>
            <a:rPr lang="en-US" sz="1800" b="0" kern="1200" dirty="0"/>
            <a:t> </a:t>
          </a:r>
          <a:r>
            <a:rPr lang="en-US" sz="1800" b="0" kern="1200" dirty="0">
              <a:solidFill>
                <a:schemeClr val="tx1"/>
              </a:solidFill>
              <a:latin typeface="Calibri" panose="020F0502020204030204" pitchFamily="34" charset="0"/>
            </a:rPr>
            <a:t>The IRB’s aim is to </a:t>
          </a:r>
          <a:r>
            <a:rPr lang="en-US" sz="1800" b="0" kern="1200" dirty="0">
              <a:latin typeface="Calibri" panose="020F0502020204030204" pitchFamily="34" charset="0"/>
            </a:rPr>
            <a:t>facilitate and strengthen human </a:t>
          </a:r>
          <a:r>
            <a:rPr lang="en-US" sz="1800" b="0" kern="1200" dirty="0">
              <a:latin typeface="Calibri" panose="020F0502020204030204" pitchFamily="34" charset="0"/>
              <a:cs typeface="Arial" panose="020B0604020202020204" pitchFamily="34" charset="0"/>
            </a:rPr>
            <a:t>subjects</a:t>
          </a:r>
          <a:r>
            <a:rPr lang="en-US" sz="1800" b="0" kern="1200" dirty="0">
              <a:latin typeface="Calibri" panose="020F0502020204030204" pitchFamily="34" charset="0"/>
            </a:rPr>
            <a:t> research conducted by investigators at Columbia University.</a:t>
          </a:r>
          <a:endParaRPr lang="en-US" sz="1800" b="0" kern="1200" dirty="0">
            <a:solidFill>
              <a:schemeClr val="bg1"/>
            </a:solidFill>
            <a:effectLst>
              <a:outerShdw blurRad="38100" dist="38100" dir="2700000" algn="tl">
                <a:srgbClr val="000000">
                  <a:alpha val="43137"/>
                </a:srgbClr>
              </a:outerShdw>
            </a:effectLst>
            <a:latin typeface="Calibri" panose="020F0502020204030204" pitchFamily="34" charset="0"/>
          </a:endParaRPr>
        </a:p>
      </dsp:txBody>
      <dsp:txXfrm rot="-5400000">
        <a:off x="1376127" y="1956387"/>
        <a:ext cx="6958252" cy="806968"/>
      </dsp:txXfrm>
    </dsp:sp>
    <dsp:sp modelId="{F5034101-5B7D-4FE7-B47A-5A48CF39606B}">
      <dsp:nvSpPr>
        <dsp:cNvPr id="0" name=""/>
        <dsp:cNvSpPr/>
      </dsp:nvSpPr>
      <dsp:spPr>
        <a:xfrm>
          <a:off x="3965" y="1901514"/>
          <a:ext cx="1328507" cy="916713"/>
        </a:xfrm>
        <a:prstGeom prst="roundRect">
          <a:avLst/>
        </a:prstGeom>
        <a:solidFill>
          <a:schemeClr val="tx1">
            <a:lumMod val="65000"/>
            <a:lumOff val="3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kern="120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Operational</a:t>
          </a:r>
          <a:r>
            <a:rPr lang="en-US" sz="1400" b="1" kern="1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Goal</a:t>
          </a:r>
        </a:p>
      </dsp:txBody>
      <dsp:txXfrm>
        <a:off x="48715" y="1946264"/>
        <a:ext cx="1239007" cy="8272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4499467" y="-2288806"/>
          <a:ext cx="1439674" cy="6020591"/>
        </a:xfrm>
        <a:prstGeom prst="roundRect">
          <a:avLst/>
        </a:prstGeom>
        <a:solidFill>
          <a:schemeClr val="accent1">
            <a:alpha val="1500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0" lvl="1" indent="0" algn="l" defTabSz="622300">
            <a:lnSpc>
              <a:spcPct val="90000"/>
            </a:lnSpc>
            <a:spcBef>
              <a:spcPct val="0"/>
            </a:spcBef>
            <a:spcAft>
              <a:spcPct val="15000"/>
            </a:spcAft>
            <a:buChar char="•"/>
          </a:pPr>
          <a:r>
            <a:rPr lang="en-US" sz="1400" b="0" kern="1200" dirty="0">
              <a:ln>
                <a:noFill/>
              </a:ln>
              <a:solidFill>
                <a:schemeClr val="tx1"/>
              </a:solidFill>
              <a:effectLst/>
              <a:latin typeface="Calibri" panose="020F0502020204030204" pitchFamily="34" charset="0"/>
            </a:rPr>
            <a:t>Informed Consent will be sought for each prospective subject</a:t>
          </a:r>
        </a:p>
        <a:p>
          <a:pPr marL="0" lvl="1" indent="0" algn="l" defTabSz="622300">
            <a:lnSpc>
              <a:spcPct val="90000"/>
            </a:lnSpc>
            <a:spcBef>
              <a:spcPct val="0"/>
            </a:spcBef>
            <a:spcAft>
              <a:spcPct val="15000"/>
            </a:spcAft>
            <a:buChar char="•"/>
          </a:pPr>
          <a:r>
            <a:rPr lang="en-US" sz="1400" b="0" kern="1200" dirty="0">
              <a:ln>
                <a:noFill/>
              </a:ln>
              <a:solidFill>
                <a:schemeClr val="tx1"/>
              </a:solidFill>
              <a:effectLst/>
              <a:latin typeface="Calibri" panose="020F0502020204030204" pitchFamily="34" charset="0"/>
            </a:rPr>
            <a:t>Informed Consent </a:t>
          </a:r>
          <a:r>
            <a:rPr lang="en-US" sz="1400" b="0" kern="1200" dirty="0">
              <a:ln>
                <a:noFill/>
              </a:ln>
              <a:solidFill>
                <a:schemeClr val="tx1"/>
              </a:solidFill>
              <a:effectLst/>
              <a:latin typeface="Arial" panose="020B0604020202020204" pitchFamily="34" charset="0"/>
              <a:cs typeface="Arial" panose="020B0604020202020204" pitchFamily="34" charset="0"/>
            </a:rPr>
            <a:t>will</a:t>
          </a:r>
          <a:r>
            <a:rPr lang="en-US" sz="1400" b="0" kern="1200" dirty="0">
              <a:ln>
                <a:noFill/>
              </a:ln>
              <a:solidFill>
                <a:schemeClr val="tx1"/>
              </a:solidFill>
              <a:effectLst/>
              <a:latin typeface="Calibri" panose="020F0502020204030204" pitchFamily="34" charset="0"/>
            </a:rPr>
            <a:t> be documented</a:t>
          </a:r>
        </a:p>
        <a:p>
          <a:pPr marL="0" lvl="1" indent="0" algn="l" defTabSz="622300">
            <a:lnSpc>
              <a:spcPct val="90000"/>
            </a:lnSpc>
            <a:spcBef>
              <a:spcPct val="0"/>
            </a:spcBef>
            <a:spcAft>
              <a:spcPct val="15000"/>
            </a:spcAft>
            <a:buChar char="•"/>
          </a:pPr>
          <a:r>
            <a:rPr lang="en-US" sz="1400" b="0" kern="1200" dirty="0">
              <a:ln>
                <a:noFill/>
              </a:ln>
              <a:solidFill>
                <a:schemeClr val="tx1"/>
              </a:solidFill>
              <a:effectLst/>
              <a:latin typeface="Calibri" panose="020F0502020204030204" pitchFamily="34" charset="0"/>
            </a:rPr>
            <a:t>Research plan adequately protects the privacy of subjects and maintains confidentiality of their data </a:t>
          </a:r>
        </a:p>
      </dsp:txBody>
      <dsp:txXfrm rot="-5400000">
        <a:off x="2279288" y="71931"/>
        <a:ext cx="5880033" cy="1299116"/>
      </dsp:txXfrm>
    </dsp:sp>
    <dsp:sp modelId="{7E429971-BC57-430F-BB25-C0574E5E39E3}">
      <dsp:nvSpPr>
        <dsp:cNvPr id="0" name=""/>
        <dsp:cNvSpPr/>
      </dsp:nvSpPr>
      <dsp:spPr>
        <a:xfrm>
          <a:off x="0" y="42257"/>
          <a:ext cx="2146207" cy="1209540"/>
        </a:xfrm>
        <a:prstGeom prst="roundRect">
          <a:avLst/>
        </a:prstGeom>
        <a:solidFill>
          <a:schemeClr val="tx1">
            <a:lumMod val="65000"/>
            <a:lumOff val="3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bg1"/>
              </a:solidFill>
              <a:effectLst>
                <a:outerShdw blurRad="38100" dist="38100" dir="2700000" algn="tl">
                  <a:srgbClr val="000000">
                    <a:alpha val="43137"/>
                  </a:srgbClr>
                </a:outerShdw>
              </a:effectLst>
            </a:rPr>
            <a:t>Respect for </a:t>
          </a:r>
          <a:r>
            <a:rPr lang="en-US" sz="1900" b="1" kern="1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Persons</a:t>
          </a:r>
        </a:p>
        <a:p>
          <a:pPr marL="0" lvl="0" indent="0" algn="ctr" defTabSz="844550">
            <a:lnSpc>
              <a:spcPct val="90000"/>
            </a:lnSpc>
            <a:spcBef>
              <a:spcPct val="0"/>
            </a:spcBef>
            <a:spcAft>
              <a:spcPct val="35000"/>
            </a:spcAft>
            <a:buNone/>
          </a:pPr>
          <a:endParaRPr lang="en-US" sz="1300" b="1" kern="1200" dirty="0">
            <a:solidFill>
              <a:schemeClr val="bg1"/>
            </a:solidFill>
            <a:effectLst>
              <a:outerShdw blurRad="38100" dist="38100" dir="2700000" algn="tl">
                <a:srgbClr val="000000">
                  <a:alpha val="43137"/>
                </a:srgbClr>
              </a:outerShdw>
            </a:effectLst>
          </a:endParaRPr>
        </a:p>
      </dsp:txBody>
      <dsp:txXfrm>
        <a:off x="59045" y="101302"/>
        <a:ext cx="2028117" cy="1091450"/>
      </dsp:txXfrm>
    </dsp:sp>
    <dsp:sp modelId="{B37A5355-225B-4C6F-AED7-6C620F99EECC}">
      <dsp:nvSpPr>
        <dsp:cNvPr id="0" name=""/>
        <dsp:cNvSpPr/>
      </dsp:nvSpPr>
      <dsp:spPr>
        <a:xfrm rot="5400000">
          <a:off x="4394054" y="-637636"/>
          <a:ext cx="1673906" cy="5997184"/>
        </a:xfrm>
        <a:prstGeom prst="roundRect">
          <a:avLst/>
        </a:prstGeom>
        <a:solidFill>
          <a:schemeClr val="accent1">
            <a:alpha val="1500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0" marR="0" lvl="1" indent="0" algn="l" defTabSz="914400" eaLnBrk="1" fontAlgn="auto" latinLnBrk="0" hangingPunct="1">
            <a:lnSpc>
              <a:spcPct val="100000"/>
            </a:lnSpc>
            <a:spcBef>
              <a:spcPts val="0"/>
            </a:spcBef>
            <a:spcAft>
              <a:spcPts val="0"/>
            </a:spcAft>
            <a:buClrTx/>
            <a:buSzTx/>
            <a:buFontTx/>
            <a:buNone/>
            <a:tabLst/>
            <a:defRPr/>
          </a:pPr>
          <a:r>
            <a:rPr lang="en-US" sz="1400" b="0" kern="1200" baseline="0" dirty="0">
              <a:solidFill>
                <a:schemeClr val="tx1"/>
              </a:solidFill>
              <a:latin typeface="Calibri" panose="020F0502020204030204" pitchFamily="34" charset="0"/>
            </a:rPr>
            <a:t>Risks are  minimized</a:t>
          </a:r>
          <a:endParaRPr lang="en-US" sz="1400" b="0" kern="1200" baseline="0" dirty="0">
            <a:solidFill>
              <a:schemeClr val="tx1"/>
            </a:solidFill>
            <a:effectLst>
              <a:outerShdw blurRad="38100" dist="38100" dir="2700000" algn="tl">
                <a:srgbClr val="000000">
                  <a:alpha val="43137"/>
                </a:srgbClr>
              </a:outerShdw>
            </a:effectLst>
            <a:latin typeface="Calibri" panose="020F0502020204030204" pitchFamily="34" charset="0"/>
          </a:endParaRPr>
        </a:p>
        <a:p>
          <a:pPr marL="0" marR="0" lvl="1" indent="0" algn="l" defTabSz="914400" eaLnBrk="1" fontAlgn="auto" latinLnBrk="0" hangingPunct="1">
            <a:lnSpc>
              <a:spcPct val="100000"/>
            </a:lnSpc>
            <a:spcBef>
              <a:spcPts val="0"/>
            </a:spcBef>
            <a:spcAft>
              <a:spcPts val="0"/>
            </a:spcAft>
            <a:buClrTx/>
            <a:buSzTx/>
            <a:buFontTx/>
            <a:buNone/>
            <a:tabLst/>
            <a:defRPr/>
          </a:pPr>
          <a:r>
            <a:rPr lang="en-US" sz="1400" b="0" kern="1200" baseline="0" dirty="0">
              <a:solidFill>
                <a:schemeClr val="tx1"/>
              </a:solidFill>
              <a:effectLst/>
              <a:latin typeface="Calibri" panose="020F0502020204030204" pitchFamily="34" charset="0"/>
            </a:rPr>
            <a:t>Risks are reasonable in </a:t>
          </a:r>
          <a:r>
            <a:rPr lang="en-US" sz="1400" b="0" kern="1200" baseline="0" dirty="0">
              <a:solidFill>
                <a:schemeClr val="tx1"/>
              </a:solidFill>
              <a:effectLst/>
              <a:latin typeface="Arial" panose="020B0604020202020204" pitchFamily="34" charset="0"/>
              <a:cs typeface="Arial" panose="020B0604020202020204" pitchFamily="34" charset="0"/>
            </a:rPr>
            <a:t>relation</a:t>
          </a:r>
          <a:r>
            <a:rPr lang="en-US" sz="1400" b="0" kern="1200" baseline="0" dirty="0">
              <a:solidFill>
                <a:schemeClr val="tx1"/>
              </a:solidFill>
              <a:effectLst/>
              <a:latin typeface="Calibri" panose="020F0502020204030204" pitchFamily="34" charset="0"/>
            </a:rPr>
            <a:t> to benefits</a:t>
          </a:r>
          <a:endParaRPr lang="en-US" sz="1400" b="0" kern="1200" baseline="0" dirty="0">
            <a:solidFill>
              <a:schemeClr val="tx1"/>
            </a:solidFill>
            <a:effectLst>
              <a:outerShdw blurRad="38100" dist="38100" dir="2700000" algn="tl">
                <a:srgbClr val="000000">
                  <a:alpha val="43137"/>
                </a:srgbClr>
              </a:outerShdw>
            </a:effectLst>
            <a:latin typeface="Calibri" panose="020F0502020204030204" pitchFamily="34" charset="0"/>
          </a:endParaRPr>
        </a:p>
        <a:p>
          <a:pPr marL="0" marR="0" lvl="1" indent="0" algn="l" defTabSz="914400" eaLnBrk="1" fontAlgn="auto" latinLnBrk="0" hangingPunct="1">
            <a:lnSpc>
              <a:spcPct val="100000"/>
            </a:lnSpc>
            <a:spcBef>
              <a:spcPts val="0"/>
            </a:spcBef>
            <a:spcAft>
              <a:spcPts val="0"/>
            </a:spcAft>
            <a:buClrTx/>
            <a:buSzTx/>
            <a:buFontTx/>
            <a:buNone/>
            <a:tabLst/>
            <a:defRPr/>
          </a:pPr>
          <a:r>
            <a:rPr lang="en-US" sz="1400" b="0" kern="1200" baseline="0" dirty="0">
              <a:solidFill>
                <a:schemeClr val="tx1"/>
              </a:solidFill>
              <a:effectLst/>
              <a:latin typeface="Calibri" panose="020F0502020204030204" pitchFamily="34" charset="0"/>
            </a:rPr>
            <a:t>Research plan adequately provides for monitoring the data collected to ensure safety of subjects</a:t>
          </a:r>
        </a:p>
        <a:p>
          <a:pPr marL="0" marR="0" lvl="1" indent="0" algn="l" defTabSz="914400" eaLnBrk="1" fontAlgn="auto" latinLnBrk="0" hangingPunct="1">
            <a:lnSpc>
              <a:spcPct val="100000"/>
            </a:lnSpc>
            <a:spcBef>
              <a:spcPts val="0"/>
            </a:spcBef>
            <a:spcAft>
              <a:spcPts val="0"/>
            </a:spcAft>
            <a:buClrTx/>
            <a:buSzTx/>
            <a:buFontTx/>
            <a:buNone/>
            <a:tabLst/>
            <a:defRPr/>
          </a:pPr>
          <a:r>
            <a:rPr lang="en-US" sz="1400" b="0" kern="1200" baseline="0" dirty="0">
              <a:solidFill>
                <a:schemeClr val="tx1"/>
              </a:solidFill>
              <a:effectLst/>
              <a:latin typeface="Calibri" panose="020F0502020204030204" pitchFamily="34" charset="0"/>
            </a:rPr>
            <a:t>When some or all of the subjects are likely to be vulnerable to coercion or undue influence (</a:t>
          </a:r>
          <a:r>
            <a:rPr lang="en-US" sz="1400" b="0" kern="1200" baseline="0" dirty="0" err="1">
              <a:solidFill>
                <a:schemeClr val="tx1"/>
              </a:solidFill>
              <a:effectLst/>
              <a:latin typeface="Calibri" panose="020F0502020204030204" pitchFamily="34" charset="0"/>
            </a:rPr>
            <a:t>i.e</a:t>
          </a:r>
          <a:r>
            <a:rPr lang="en-US" sz="1400" b="0" kern="1200" baseline="0" dirty="0">
              <a:solidFill>
                <a:schemeClr val="tx1"/>
              </a:solidFill>
              <a:effectLst/>
              <a:latin typeface="Calibri" panose="020F0502020204030204" pitchFamily="34" charset="0"/>
            </a:rPr>
            <a:t>, children and prisoners), additional safeguards need to be included in the protocol to protect the rights and welfare of these subjects</a:t>
          </a:r>
        </a:p>
      </dsp:txBody>
      <dsp:txXfrm rot="-5400000">
        <a:off x="2314128" y="1605716"/>
        <a:ext cx="5833758" cy="1510480"/>
      </dsp:txXfrm>
    </dsp:sp>
    <dsp:sp modelId="{C04276DC-EE64-470A-B8BC-09067B8045FA}">
      <dsp:nvSpPr>
        <dsp:cNvPr id="0" name=""/>
        <dsp:cNvSpPr/>
      </dsp:nvSpPr>
      <dsp:spPr>
        <a:xfrm>
          <a:off x="229" y="1759915"/>
          <a:ext cx="2230444" cy="1189876"/>
        </a:xfrm>
        <a:prstGeom prst="roundRect">
          <a:avLst/>
        </a:prstGeom>
        <a:solidFill>
          <a:schemeClr val="tx1">
            <a:lumMod val="65000"/>
            <a:lumOff val="3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Beneficence</a:t>
          </a:r>
        </a:p>
      </dsp:txBody>
      <dsp:txXfrm>
        <a:off x="58314" y="1818000"/>
        <a:ext cx="2114274" cy="1073706"/>
      </dsp:txXfrm>
    </dsp:sp>
    <dsp:sp modelId="{C7C3E6FD-D83F-4BDA-907E-B5EE041DA931}">
      <dsp:nvSpPr>
        <dsp:cNvPr id="0" name=""/>
        <dsp:cNvSpPr/>
      </dsp:nvSpPr>
      <dsp:spPr>
        <a:xfrm rot="5400000">
          <a:off x="4714189" y="906853"/>
          <a:ext cx="1003457" cy="6005034"/>
        </a:xfrm>
        <a:prstGeom prst="roundRect">
          <a:avLst/>
        </a:prstGeom>
        <a:solidFill>
          <a:schemeClr val="accent1">
            <a:alpha val="15000"/>
          </a:schemeClr>
        </a:solidFill>
        <a:ln w="9525" cap="flat" cmpd="sng" algn="ctr">
          <a:solidFill>
            <a:schemeClr val="accent1">
              <a:alpha val="90000"/>
              <a:tint val="4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b="0" kern="1200" dirty="0">
              <a:latin typeface="Calibri" panose="020F0502020204030204" pitchFamily="34" charset="0"/>
            </a:rPr>
            <a:t>Selection of subjects is fair </a:t>
          </a:r>
          <a:r>
            <a:rPr lang="en-US" sz="1400" b="0" kern="1200" dirty="0">
              <a:latin typeface="Arial" panose="020B0604020202020204" pitchFamily="34" charset="0"/>
              <a:cs typeface="Arial" panose="020B0604020202020204" pitchFamily="34" charset="0"/>
            </a:rPr>
            <a:t>and</a:t>
          </a:r>
          <a:r>
            <a:rPr lang="en-US" sz="1400" b="0" kern="1200" dirty="0">
              <a:latin typeface="Calibri" panose="020F0502020204030204" pitchFamily="34" charset="0"/>
            </a:rPr>
            <a:t> equitable</a:t>
          </a:r>
          <a:endParaRPr lang="en-US" sz="1400" b="0" kern="1200" dirty="0">
            <a:solidFill>
              <a:schemeClr val="bg1"/>
            </a:solidFill>
            <a:effectLst>
              <a:outerShdw blurRad="38100" dist="38100" dir="2700000" algn="tl">
                <a:srgbClr val="000000">
                  <a:alpha val="43137"/>
                </a:srgbClr>
              </a:outerShdw>
            </a:effectLst>
            <a:latin typeface="Calibri" panose="020F0502020204030204" pitchFamily="34" charset="0"/>
          </a:endParaRPr>
        </a:p>
      </dsp:txBody>
      <dsp:txXfrm rot="-5400000">
        <a:off x="2262386" y="3456626"/>
        <a:ext cx="5907064" cy="905487"/>
      </dsp:txXfrm>
    </dsp:sp>
    <dsp:sp modelId="{F5034101-5B7D-4FE7-B47A-5A48CF39606B}">
      <dsp:nvSpPr>
        <dsp:cNvPr id="0" name=""/>
        <dsp:cNvSpPr/>
      </dsp:nvSpPr>
      <dsp:spPr>
        <a:xfrm>
          <a:off x="0" y="3270033"/>
          <a:ext cx="2224105" cy="1255929"/>
        </a:xfrm>
        <a:prstGeom prst="roundRect">
          <a:avLst/>
        </a:prstGeom>
        <a:solidFill>
          <a:schemeClr val="tx1">
            <a:lumMod val="65000"/>
            <a:lumOff val="3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Justice</a:t>
          </a:r>
        </a:p>
      </dsp:txBody>
      <dsp:txXfrm>
        <a:off x="61309" y="3331342"/>
        <a:ext cx="2101487" cy="113331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3" y="2"/>
            <a:ext cx="3038475" cy="465138"/>
          </a:xfrm>
          <a:prstGeom prst="rect">
            <a:avLst/>
          </a:prstGeom>
          <a:noFill/>
          <a:ln w="9525">
            <a:noFill/>
            <a:miter lim="800000"/>
            <a:headEnd/>
            <a:tailEnd/>
          </a:ln>
        </p:spPr>
        <p:txBody>
          <a:bodyPr vert="horz" wrap="square" lIns="92277" tIns="46139" rIns="92277" bIns="46139" numCol="1" anchor="t" anchorCtr="0" compatLnSpc="1">
            <a:prstTxWarp prst="textNoShape">
              <a:avLst/>
            </a:prstTxWarp>
          </a:bodyPr>
          <a:lstStyle>
            <a:lvl1pPr defTabSz="923548">
              <a:defRPr sz="1200"/>
            </a:lvl1pPr>
          </a:lstStyle>
          <a:p>
            <a:pPr>
              <a:defRPr/>
            </a:pPr>
            <a:endParaRPr lang="en-US" dirty="0"/>
          </a:p>
        </p:txBody>
      </p:sp>
      <p:sp>
        <p:nvSpPr>
          <p:cNvPr id="110595" name="Rectangle 3"/>
          <p:cNvSpPr>
            <a:spLocks noGrp="1" noChangeArrowheads="1"/>
          </p:cNvSpPr>
          <p:nvPr>
            <p:ph type="dt" sz="quarter" idx="1"/>
          </p:nvPr>
        </p:nvSpPr>
        <p:spPr bwMode="auto">
          <a:xfrm>
            <a:off x="3970341" y="2"/>
            <a:ext cx="3038475" cy="465138"/>
          </a:xfrm>
          <a:prstGeom prst="rect">
            <a:avLst/>
          </a:prstGeom>
          <a:noFill/>
          <a:ln w="9525">
            <a:noFill/>
            <a:miter lim="800000"/>
            <a:headEnd/>
            <a:tailEnd/>
          </a:ln>
        </p:spPr>
        <p:txBody>
          <a:bodyPr vert="horz" wrap="square" lIns="92277" tIns="46139" rIns="92277" bIns="46139" numCol="1" anchor="t" anchorCtr="0" compatLnSpc="1">
            <a:prstTxWarp prst="textNoShape">
              <a:avLst/>
            </a:prstTxWarp>
          </a:bodyPr>
          <a:lstStyle>
            <a:lvl1pPr algn="r" defTabSz="923548">
              <a:defRPr sz="1200"/>
            </a:lvl1pPr>
          </a:lstStyle>
          <a:p>
            <a:pPr>
              <a:defRPr/>
            </a:pPr>
            <a:fld id="{C4AAD837-E273-4389-987F-5E94EA00C572}" type="datetime1">
              <a:rPr lang="en-US" smtClean="0"/>
              <a:t>10/3/2025</a:t>
            </a:fld>
            <a:endParaRPr lang="en-US" dirty="0"/>
          </a:p>
        </p:txBody>
      </p:sp>
      <p:sp>
        <p:nvSpPr>
          <p:cNvPr id="110596" name="Rectangle 4"/>
          <p:cNvSpPr>
            <a:spLocks noGrp="1" noChangeArrowheads="1"/>
          </p:cNvSpPr>
          <p:nvPr>
            <p:ph type="ftr" sz="quarter" idx="2"/>
          </p:nvPr>
        </p:nvSpPr>
        <p:spPr bwMode="auto">
          <a:xfrm>
            <a:off x="3" y="8829676"/>
            <a:ext cx="3038475" cy="465138"/>
          </a:xfrm>
          <a:prstGeom prst="rect">
            <a:avLst/>
          </a:prstGeom>
          <a:noFill/>
          <a:ln w="9525">
            <a:noFill/>
            <a:miter lim="800000"/>
            <a:headEnd/>
            <a:tailEnd/>
          </a:ln>
        </p:spPr>
        <p:txBody>
          <a:bodyPr vert="horz" wrap="square" lIns="92277" tIns="46139" rIns="92277" bIns="46139" numCol="1" anchor="b" anchorCtr="0" compatLnSpc="1">
            <a:prstTxWarp prst="textNoShape">
              <a:avLst/>
            </a:prstTxWarp>
          </a:bodyPr>
          <a:lstStyle>
            <a:lvl1pPr defTabSz="923548">
              <a:defRPr sz="1200"/>
            </a:lvl1pPr>
          </a:lstStyle>
          <a:p>
            <a:pPr>
              <a:defRPr/>
            </a:pPr>
            <a:endParaRPr lang="en-US" dirty="0"/>
          </a:p>
        </p:txBody>
      </p:sp>
      <p:sp>
        <p:nvSpPr>
          <p:cNvPr id="110597" name="Rectangle 5"/>
          <p:cNvSpPr>
            <a:spLocks noGrp="1" noChangeArrowheads="1"/>
          </p:cNvSpPr>
          <p:nvPr>
            <p:ph type="sldNum" sz="quarter" idx="3"/>
          </p:nvPr>
        </p:nvSpPr>
        <p:spPr bwMode="auto">
          <a:xfrm>
            <a:off x="3970341" y="8829676"/>
            <a:ext cx="3038475" cy="465138"/>
          </a:xfrm>
          <a:prstGeom prst="rect">
            <a:avLst/>
          </a:prstGeom>
          <a:noFill/>
          <a:ln w="9525">
            <a:noFill/>
            <a:miter lim="800000"/>
            <a:headEnd/>
            <a:tailEnd/>
          </a:ln>
        </p:spPr>
        <p:txBody>
          <a:bodyPr vert="horz" wrap="square" lIns="92277" tIns="46139" rIns="92277" bIns="46139" numCol="1" anchor="b" anchorCtr="0" compatLnSpc="1">
            <a:prstTxWarp prst="textNoShape">
              <a:avLst/>
            </a:prstTxWarp>
          </a:bodyPr>
          <a:lstStyle>
            <a:lvl1pPr algn="r" defTabSz="923548">
              <a:defRPr sz="1200"/>
            </a:lvl1pPr>
          </a:lstStyle>
          <a:p>
            <a:pPr>
              <a:defRPr/>
            </a:pPr>
            <a:fld id="{6C6A4804-DB22-4527-BA41-8867437B2E93}" type="slidenum">
              <a:rPr lang="en-US"/>
              <a:pPr>
                <a:defRPr/>
              </a:pPr>
              <a:t>‹#›</a:t>
            </a:fld>
            <a:endParaRPr lang="en-US" dirty="0"/>
          </a:p>
        </p:txBody>
      </p:sp>
    </p:spTree>
    <p:extLst>
      <p:ext uri="{BB962C8B-B14F-4D97-AF65-F5344CB8AC3E}">
        <p14:creationId xmlns:p14="http://schemas.microsoft.com/office/powerpoint/2010/main" val="218787901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3" y="2"/>
            <a:ext cx="3038475" cy="465138"/>
          </a:xfrm>
          <a:prstGeom prst="rect">
            <a:avLst/>
          </a:prstGeom>
          <a:noFill/>
          <a:ln w="9525">
            <a:noFill/>
            <a:miter lim="800000"/>
            <a:headEnd/>
            <a:tailEnd/>
          </a:ln>
        </p:spPr>
        <p:txBody>
          <a:bodyPr vert="horz" wrap="square" lIns="92277" tIns="46139" rIns="92277" bIns="46139" numCol="1" anchor="t" anchorCtr="0" compatLnSpc="1">
            <a:prstTxWarp prst="textNoShape">
              <a:avLst/>
            </a:prstTxWarp>
          </a:bodyPr>
          <a:lstStyle>
            <a:lvl1pPr defTabSz="923548">
              <a:defRPr sz="1200"/>
            </a:lvl1pPr>
          </a:lstStyle>
          <a:p>
            <a:pPr>
              <a:defRPr/>
            </a:pPr>
            <a:endParaRPr lang="en-US" dirty="0"/>
          </a:p>
        </p:txBody>
      </p:sp>
      <p:sp>
        <p:nvSpPr>
          <p:cNvPr id="25603" name="Rectangle 3"/>
          <p:cNvSpPr>
            <a:spLocks noGrp="1" noChangeArrowheads="1"/>
          </p:cNvSpPr>
          <p:nvPr>
            <p:ph type="dt" idx="1"/>
          </p:nvPr>
        </p:nvSpPr>
        <p:spPr bwMode="auto">
          <a:xfrm>
            <a:off x="3970341" y="2"/>
            <a:ext cx="3038475" cy="465138"/>
          </a:xfrm>
          <a:prstGeom prst="rect">
            <a:avLst/>
          </a:prstGeom>
          <a:noFill/>
          <a:ln w="9525">
            <a:noFill/>
            <a:miter lim="800000"/>
            <a:headEnd/>
            <a:tailEnd/>
          </a:ln>
        </p:spPr>
        <p:txBody>
          <a:bodyPr vert="horz" wrap="square" lIns="92277" tIns="46139" rIns="92277" bIns="46139" numCol="1" anchor="t" anchorCtr="0" compatLnSpc="1">
            <a:prstTxWarp prst="textNoShape">
              <a:avLst/>
            </a:prstTxWarp>
          </a:bodyPr>
          <a:lstStyle>
            <a:lvl1pPr algn="r" defTabSz="923548">
              <a:defRPr sz="1200"/>
            </a:lvl1pPr>
          </a:lstStyle>
          <a:p>
            <a:pPr>
              <a:defRPr/>
            </a:pPr>
            <a:fld id="{8A115032-9FBE-429C-BCEB-9E1133CB3B27}" type="datetime1">
              <a:rPr lang="en-US" smtClean="0"/>
              <a:t>10/3/2025</a:t>
            </a:fld>
            <a:endParaRPr lang="en-US" dirty="0"/>
          </a:p>
        </p:txBody>
      </p:sp>
      <p:sp>
        <p:nvSpPr>
          <p:cNvPr id="66564"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701675" y="4416426"/>
            <a:ext cx="5607050" cy="4183063"/>
          </a:xfrm>
          <a:prstGeom prst="rect">
            <a:avLst/>
          </a:prstGeom>
          <a:noFill/>
          <a:ln w="9525">
            <a:noFill/>
            <a:miter lim="800000"/>
            <a:headEnd/>
            <a:tailEnd/>
          </a:ln>
        </p:spPr>
        <p:txBody>
          <a:bodyPr vert="horz" wrap="square" lIns="92277" tIns="46139" rIns="92277" bIns="4613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606" name="Rectangle 6"/>
          <p:cNvSpPr>
            <a:spLocks noGrp="1" noChangeArrowheads="1"/>
          </p:cNvSpPr>
          <p:nvPr>
            <p:ph type="ftr" sz="quarter" idx="4"/>
          </p:nvPr>
        </p:nvSpPr>
        <p:spPr bwMode="auto">
          <a:xfrm>
            <a:off x="3" y="8829676"/>
            <a:ext cx="3038475" cy="465138"/>
          </a:xfrm>
          <a:prstGeom prst="rect">
            <a:avLst/>
          </a:prstGeom>
          <a:noFill/>
          <a:ln w="9525">
            <a:noFill/>
            <a:miter lim="800000"/>
            <a:headEnd/>
            <a:tailEnd/>
          </a:ln>
        </p:spPr>
        <p:txBody>
          <a:bodyPr vert="horz" wrap="square" lIns="92277" tIns="46139" rIns="92277" bIns="46139" numCol="1" anchor="b" anchorCtr="0" compatLnSpc="1">
            <a:prstTxWarp prst="textNoShape">
              <a:avLst/>
            </a:prstTxWarp>
          </a:bodyPr>
          <a:lstStyle>
            <a:lvl1pPr defTabSz="923548">
              <a:defRPr sz="1200"/>
            </a:lvl1pPr>
          </a:lstStyle>
          <a:p>
            <a:pPr>
              <a:defRPr/>
            </a:pPr>
            <a:endParaRPr lang="en-US" dirty="0"/>
          </a:p>
        </p:txBody>
      </p:sp>
      <p:sp>
        <p:nvSpPr>
          <p:cNvPr id="25607" name="Rectangle 7"/>
          <p:cNvSpPr>
            <a:spLocks noGrp="1" noChangeArrowheads="1"/>
          </p:cNvSpPr>
          <p:nvPr>
            <p:ph type="sldNum" sz="quarter" idx="5"/>
          </p:nvPr>
        </p:nvSpPr>
        <p:spPr bwMode="auto">
          <a:xfrm>
            <a:off x="3970341" y="8829676"/>
            <a:ext cx="3038475" cy="465138"/>
          </a:xfrm>
          <a:prstGeom prst="rect">
            <a:avLst/>
          </a:prstGeom>
          <a:noFill/>
          <a:ln w="9525">
            <a:noFill/>
            <a:miter lim="800000"/>
            <a:headEnd/>
            <a:tailEnd/>
          </a:ln>
        </p:spPr>
        <p:txBody>
          <a:bodyPr vert="horz" wrap="square" lIns="92277" tIns="46139" rIns="92277" bIns="46139" numCol="1" anchor="b" anchorCtr="0" compatLnSpc="1">
            <a:prstTxWarp prst="textNoShape">
              <a:avLst/>
            </a:prstTxWarp>
          </a:bodyPr>
          <a:lstStyle>
            <a:lvl1pPr algn="r" defTabSz="923548">
              <a:defRPr sz="1200"/>
            </a:lvl1pPr>
          </a:lstStyle>
          <a:p>
            <a:pPr>
              <a:defRPr/>
            </a:pPr>
            <a:fld id="{3921235C-E734-4AE9-8E58-F509B2E29F4E}" type="slidenum">
              <a:rPr lang="en-US"/>
              <a:pPr>
                <a:defRPr/>
              </a:pPr>
              <a:t>‹#›</a:t>
            </a:fld>
            <a:endParaRPr lang="en-US" dirty="0"/>
          </a:p>
        </p:txBody>
      </p:sp>
    </p:spTree>
    <p:extLst>
      <p:ext uri="{BB962C8B-B14F-4D97-AF65-F5344CB8AC3E}">
        <p14:creationId xmlns:p14="http://schemas.microsoft.com/office/powerpoint/2010/main" val="2449403254"/>
      </p:ext>
    </p:extLst>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pPr>
              <a:defRPr/>
            </a:pPr>
            <a:fld id="{8A115032-9FBE-429C-BCEB-9E1133CB3B27}" type="datetime1">
              <a:rPr lang="en-US" smtClean="0"/>
              <a:t>10/3/2025</a:t>
            </a:fld>
            <a:endParaRPr lang="en-US" dirty="0"/>
          </a:p>
        </p:txBody>
      </p:sp>
    </p:spTree>
    <p:extLst>
      <p:ext uri="{BB962C8B-B14F-4D97-AF65-F5344CB8AC3E}">
        <p14:creationId xmlns:p14="http://schemas.microsoft.com/office/powerpoint/2010/main" val="2588179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Tree>
    <p:extLst>
      <p:ext uri="{BB962C8B-B14F-4D97-AF65-F5344CB8AC3E}">
        <p14:creationId xmlns:p14="http://schemas.microsoft.com/office/powerpoint/2010/main" val="1619083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xfrm>
            <a:off x="3884613" y="8829676"/>
            <a:ext cx="2971800" cy="4651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41" indent="-285747" eaLnBrk="0" hangingPunct="0">
              <a:defRPr>
                <a:solidFill>
                  <a:schemeClr val="tx1"/>
                </a:solidFill>
                <a:latin typeface="Arial" panose="020B0604020202020204" pitchFamily="34" charset="0"/>
                <a:cs typeface="Arial" panose="020B0604020202020204" pitchFamily="34" charset="0"/>
              </a:defRPr>
            </a:lvl2pPr>
            <a:lvl3pPr marL="1142987" indent="-228597" eaLnBrk="0" hangingPunct="0">
              <a:defRPr>
                <a:solidFill>
                  <a:schemeClr val="tx1"/>
                </a:solidFill>
                <a:latin typeface="Arial" panose="020B0604020202020204" pitchFamily="34" charset="0"/>
                <a:cs typeface="Arial" panose="020B0604020202020204" pitchFamily="34" charset="0"/>
              </a:defRPr>
            </a:lvl3pPr>
            <a:lvl4pPr marL="1600182" indent="-228597" eaLnBrk="0" hangingPunct="0">
              <a:defRPr>
                <a:solidFill>
                  <a:schemeClr val="tx1"/>
                </a:solidFill>
                <a:latin typeface="Arial" panose="020B0604020202020204" pitchFamily="34" charset="0"/>
                <a:cs typeface="Arial" panose="020B0604020202020204" pitchFamily="34" charset="0"/>
              </a:defRPr>
            </a:lvl4pPr>
            <a:lvl5pPr marL="2057376" indent="-228597" eaLnBrk="0" hangingPunct="0">
              <a:defRPr>
                <a:solidFill>
                  <a:schemeClr val="tx1"/>
                </a:solidFill>
                <a:latin typeface="Arial" panose="020B0604020202020204" pitchFamily="34" charset="0"/>
                <a:cs typeface="Arial" panose="020B0604020202020204" pitchFamily="34" charset="0"/>
              </a:defRPr>
            </a:lvl5pPr>
            <a:lvl6pPr marL="2514571" indent="-228597"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766" indent="-228597"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8961" indent="-228597"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155" indent="-228597"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93A164-15BD-4DFA-A769-AB2D5514C8D9}" type="slidenum">
              <a:rPr lang="en-US" altLang="en-US">
                <a:solidFill>
                  <a:srgbClr val="000000"/>
                </a:solidFill>
              </a:rPr>
              <a:pPr eaLnBrk="1" hangingPunct="1"/>
              <a:t>4</a:t>
            </a:fld>
            <a:endParaRPr lang="en-US" altLang="en-US">
              <a:solidFill>
                <a:srgbClr val="000000"/>
              </a:solidFill>
            </a:endParaRPr>
          </a:p>
        </p:txBody>
      </p:sp>
      <p:sp>
        <p:nvSpPr>
          <p:cNvPr id="132099" name="Rectangle 2"/>
          <p:cNvSpPr>
            <a:spLocks noGrp="1" noRot="1" noChangeAspect="1" noChangeArrowheads="1" noTextEdit="1"/>
          </p:cNvSpPr>
          <p:nvPr>
            <p:ph type="sldImg"/>
          </p:nvPr>
        </p:nvSpPr>
        <p:spPr>
          <a:xfrm>
            <a:off x="1079500" y="687388"/>
            <a:ext cx="4687888" cy="3517900"/>
          </a:xfrm>
          <a:ln/>
        </p:spPr>
      </p:sp>
      <p:sp>
        <p:nvSpPr>
          <p:cNvPr id="132100" name="Rectangle 3"/>
          <p:cNvSpPr>
            <a:spLocks noGrp="1" noChangeArrowheads="1"/>
          </p:cNvSpPr>
          <p:nvPr>
            <p:ph type="body" idx="1"/>
          </p:nvPr>
        </p:nvSpPr>
        <p:spPr>
          <a:xfrm>
            <a:off x="893763" y="4432301"/>
            <a:ext cx="5059362" cy="42037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597" indent="-228597" eaLnBrk="1" hangingPunct="1"/>
            <a:endParaRPr lang="en-US" altLang="en-US" sz="1400" dirty="0">
              <a:solidFill>
                <a:schemeClr val="tx2"/>
              </a:solidFill>
              <a:latin typeface="Bookman Old Style" panose="02050604050505020204" pitchFamily="18" charset="0"/>
            </a:endParaRPr>
          </a:p>
        </p:txBody>
      </p:sp>
    </p:spTree>
    <p:extLst>
      <p:ext uri="{BB962C8B-B14F-4D97-AF65-F5344CB8AC3E}">
        <p14:creationId xmlns:p14="http://schemas.microsoft.com/office/powerpoint/2010/main" val="3313022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1192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Date Placeholder 3"/>
          <p:cNvSpPr>
            <a:spLocks noGrp="1"/>
          </p:cNvSpPr>
          <p:nvPr>
            <p:ph type="dt" idx="10"/>
          </p:nvPr>
        </p:nvSpPr>
        <p:spPr/>
        <p:txBody>
          <a:bodyPr/>
          <a:lstStyle/>
          <a:p>
            <a:pPr>
              <a:defRPr/>
            </a:pPr>
            <a:fld id="{8A115032-9FBE-429C-BCEB-9E1133CB3B27}" type="datetime1">
              <a:rPr lang="en-US" smtClean="0"/>
              <a:t>10/3/2025</a:t>
            </a:fld>
            <a:endParaRPr lang="en-US" dirty="0"/>
          </a:p>
        </p:txBody>
      </p:sp>
    </p:spTree>
    <p:extLst>
      <p:ext uri="{BB962C8B-B14F-4D97-AF65-F5344CB8AC3E}">
        <p14:creationId xmlns:p14="http://schemas.microsoft.com/office/powerpoint/2010/main" val="1346212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36868"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76" eaLnBrk="0" hangingPunct="0">
              <a:spcBef>
                <a:spcPct val="30000"/>
              </a:spcBef>
              <a:defRPr sz="1200">
                <a:solidFill>
                  <a:schemeClr val="tx1"/>
                </a:solidFill>
                <a:latin typeface="Arial" charset="0"/>
              </a:defRPr>
            </a:lvl1pPr>
            <a:lvl2pPr marL="751308" indent="-288965" defTabSz="921476" eaLnBrk="0" hangingPunct="0">
              <a:spcBef>
                <a:spcPct val="30000"/>
              </a:spcBef>
              <a:defRPr sz="1200">
                <a:solidFill>
                  <a:schemeClr val="tx1"/>
                </a:solidFill>
                <a:latin typeface="Arial" charset="0"/>
              </a:defRPr>
            </a:lvl2pPr>
            <a:lvl3pPr marL="1155859" indent="-231171" defTabSz="921476" eaLnBrk="0" hangingPunct="0">
              <a:spcBef>
                <a:spcPct val="30000"/>
              </a:spcBef>
              <a:defRPr sz="1200">
                <a:solidFill>
                  <a:schemeClr val="tx1"/>
                </a:solidFill>
                <a:latin typeface="Arial" charset="0"/>
              </a:defRPr>
            </a:lvl3pPr>
            <a:lvl4pPr marL="1618202" indent="-231171" defTabSz="921476" eaLnBrk="0" hangingPunct="0">
              <a:spcBef>
                <a:spcPct val="30000"/>
              </a:spcBef>
              <a:defRPr sz="1200">
                <a:solidFill>
                  <a:schemeClr val="tx1"/>
                </a:solidFill>
                <a:latin typeface="Arial" charset="0"/>
              </a:defRPr>
            </a:lvl4pPr>
            <a:lvl5pPr marL="2080546" indent="-231171" defTabSz="921476" eaLnBrk="0" hangingPunct="0">
              <a:spcBef>
                <a:spcPct val="30000"/>
              </a:spcBef>
              <a:defRPr sz="1200">
                <a:solidFill>
                  <a:schemeClr val="tx1"/>
                </a:solidFill>
                <a:latin typeface="Arial" charset="0"/>
              </a:defRPr>
            </a:lvl5pPr>
            <a:lvl6pPr marL="2542890" indent="-231171" defTabSz="921476" eaLnBrk="0" fontAlgn="base" hangingPunct="0">
              <a:spcBef>
                <a:spcPct val="30000"/>
              </a:spcBef>
              <a:spcAft>
                <a:spcPct val="0"/>
              </a:spcAft>
              <a:defRPr sz="1200">
                <a:solidFill>
                  <a:schemeClr val="tx1"/>
                </a:solidFill>
                <a:latin typeface="Arial" charset="0"/>
              </a:defRPr>
            </a:lvl6pPr>
            <a:lvl7pPr marL="3005232" indent="-231171" defTabSz="921476" eaLnBrk="0" fontAlgn="base" hangingPunct="0">
              <a:spcBef>
                <a:spcPct val="30000"/>
              </a:spcBef>
              <a:spcAft>
                <a:spcPct val="0"/>
              </a:spcAft>
              <a:defRPr sz="1200">
                <a:solidFill>
                  <a:schemeClr val="tx1"/>
                </a:solidFill>
                <a:latin typeface="Arial" charset="0"/>
              </a:defRPr>
            </a:lvl7pPr>
            <a:lvl8pPr marL="3467576" indent="-231171" defTabSz="921476" eaLnBrk="0" fontAlgn="base" hangingPunct="0">
              <a:spcBef>
                <a:spcPct val="30000"/>
              </a:spcBef>
              <a:spcAft>
                <a:spcPct val="0"/>
              </a:spcAft>
              <a:defRPr sz="1200">
                <a:solidFill>
                  <a:schemeClr val="tx1"/>
                </a:solidFill>
                <a:latin typeface="Arial" charset="0"/>
              </a:defRPr>
            </a:lvl8pPr>
            <a:lvl9pPr marL="3929920" indent="-231171" defTabSz="921476"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20EB3684-5686-45C3-B0B6-D912A9CAC23E}" type="slidenum">
              <a:rPr lang="en-US" altLang="en-US" smtClean="0"/>
              <a:pPr eaLnBrk="1" hangingPunct="1">
                <a:spcBef>
                  <a:spcPct val="0"/>
                </a:spcBef>
              </a:pPr>
              <a:t>8</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7892"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476" eaLnBrk="0" hangingPunct="0">
              <a:spcBef>
                <a:spcPct val="30000"/>
              </a:spcBef>
              <a:defRPr sz="1200">
                <a:solidFill>
                  <a:schemeClr val="tx1"/>
                </a:solidFill>
                <a:latin typeface="Arial" charset="0"/>
              </a:defRPr>
            </a:lvl1pPr>
            <a:lvl2pPr marL="751308" indent="-288965" defTabSz="921476" eaLnBrk="0" hangingPunct="0">
              <a:spcBef>
                <a:spcPct val="30000"/>
              </a:spcBef>
              <a:defRPr sz="1200">
                <a:solidFill>
                  <a:schemeClr val="tx1"/>
                </a:solidFill>
                <a:latin typeface="Arial" charset="0"/>
              </a:defRPr>
            </a:lvl2pPr>
            <a:lvl3pPr marL="1155859" indent="-231171" defTabSz="921476" eaLnBrk="0" hangingPunct="0">
              <a:spcBef>
                <a:spcPct val="30000"/>
              </a:spcBef>
              <a:defRPr sz="1200">
                <a:solidFill>
                  <a:schemeClr val="tx1"/>
                </a:solidFill>
                <a:latin typeface="Arial" charset="0"/>
              </a:defRPr>
            </a:lvl3pPr>
            <a:lvl4pPr marL="1618202" indent="-231171" defTabSz="921476" eaLnBrk="0" hangingPunct="0">
              <a:spcBef>
                <a:spcPct val="30000"/>
              </a:spcBef>
              <a:defRPr sz="1200">
                <a:solidFill>
                  <a:schemeClr val="tx1"/>
                </a:solidFill>
                <a:latin typeface="Arial" charset="0"/>
              </a:defRPr>
            </a:lvl4pPr>
            <a:lvl5pPr marL="2080546" indent="-231171" defTabSz="921476" eaLnBrk="0" hangingPunct="0">
              <a:spcBef>
                <a:spcPct val="30000"/>
              </a:spcBef>
              <a:defRPr sz="1200">
                <a:solidFill>
                  <a:schemeClr val="tx1"/>
                </a:solidFill>
                <a:latin typeface="Arial" charset="0"/>
              </a:defRPr>
            </a:lvl5pPr>
            <a:lvl6pPr marL="2542890" indent="-231171" defTabSz="921476" eaLnBrk="0" fontAlgn="base" hangingPunct="0">
              <a:spcBef>
                <a:spcPct val="30000"/>
              </a:spcBef>
              <a:spcAft>
                <a:spcPct val="0"/>
              </a:spcAft>
              <a:defRPr sz="1200">
                <a:solidFill>
                  <a:schemeClr val="tx1"/>
                </a:solidFill>
                <a:latin typeface="Arial" charset="0"/>
              </a:defRPr>
            </a:lvl6pPr>
            <a:lvl7pPr marL="3005232" indent="-231171" defTabSz="921476" eaLnBrk="0" fontAlgn="base" hangingPunct="0">
              <a:spcBef>
                <a:spcPct val="30000"/>
              </a:spcBef>
              <a:spcAft>
                <a:spcPct val="0"/>
              </a:spcAft>
              <a:defRPr sz="1200">
                <a:solidFill>
                  <a:schemeClr val="tx1"/>
                </a:solidFill>
                <a:latin typeface="Arial" charset="0"/>
              </a:defRPr>
            </a:lvl7pPr>
            <a:lvl8pPr marL="3467576" indent="-231171" defTabSz="921476" eaLnBrk="0" fontAlgn="base" hangingPunct="0">
              <a:spcBef>
                <a:spcPct val="30000"/>
              </a:spcBef>
              <a:spcAft>
                <a:spcPct val="0"/>
              </a:spcAft>
              <a:defRPr sz="1200">
                <a:solidFill>
                  <a:schemeClr val="tx1"/>
                </a:solidFill>
                <a:latin typeface="Arial" charset="0"/>
              </a:defRPr>
            </a:lvl8pPr>
            <a:lvl9pPr marL="3929920" indent="-231171" defTabSz="921476"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471EDA3E-661B-423D-9F3C-6C4CDFB6DD90}" type="slidenum">
              <a:rPr lang="en-US" altLang="en-US" smtClean="0"/>
              <a:pPr eaLnBrk="1" hangingPunct="1">
                <a:spcBef>
                  <a:spcPct val="0"/>
                </a:spcBef>
              </a:pPr>
              <a:t>11</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pPr>
              <a:defRPr/>
            </a:pPr>
            <a:fld id="{8A115032-9FBE-429C-BCEB-9E1133CB3B27}" type="datetime1">
              <a:rPr lang="en-US" smtClean="0"/>
              <a:t>10/3/2025</a:t>
            </a:fld>
            <a:endParaRPr lang="en-US" dirty="0"/>
          </a:p>
        </p:txBody>
      </p:sp>
    </p:spTree>
    <p:extLst>
      <p:ext uri="{BB962C8B-B14F-4D97-AF65-F5344CB8AC3E}">
        <p14:creationId xmlns:p14="http://schemas.microsoft.com/office/powerpoint/2010/main" val="683316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45088959-2744-4AA7-B383-B8AD2AA93002}" type="slidenum">
              <a:rPr lang="en-US"/>
              <a:pPr>
                <a:defRPr/>
              </a:pPr>
              <a:t>‹#›</a:t>
            </a:fld>
            <a:endParaRPr lang="en-US" dirty="0"/>
          </a:p>
        </p:txBody>
      </p:sp>
    </p:spTree>
    <p:extLst>
      <p:ext uri="{BB962C8B-B14F-4D97-AF65-F5344CB8AC3E}">
        <p14:creationId xmlns:p14="http://schemas.microsoft.com/office/powerpoint/2010/main" val="4282609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5EA45D89-72DA-4493-ABCE-7785782357B8}" type="slidenum">
              <a:rPr lang="en-US"/>
              <a:pPr>
                <a:defRPr/>
              </a:pPr>
              <a:t>‹#›</a:t>
            </a:fld>
            <a:endParaRPr lang="en-US" dirty="0"/>
          </a:p>
        </p:txBody>
      </p:sp>
    </p:spTree>
    <p:extLst>
      <p:ext uri="{BB962C8B-B14F-4D97-AF65-F5344CB8AC3E}">
        <p14:creationId xmlns:p14="http://schemas.microsoft.com/office/powerpoint/2010/main" val="798700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D6696622-1329-4654-8323-B229253EBE82}" type="slidenum">
              <a:rPr lang="en-US"/>
              <a:pPr>
                <a:defRPr/>
              </a:pPr>
              <a:t>‹#›</a:t>
            </a:fld>
            <a:endParaRPr lang="en-US" dirty="0"/>
          </a:p>
        </p:txBody>
      </p:sp>
    </p:spTree>
    <p:extLst>
      <p:ext uri="{BB962C8B-B14F-4D97-AF65-F5344CB8AC3E}">
        <p14:creationId xmlns:p14="http://schemas.microsoft.com/office/powerpoint/2010/main" val="1116433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D0FAD63A-0A59-47D3-8453-D1CCC5697CB2}" type="slidenum">
              <a:rPr lang="en-US"/>
              <a:pPr>
                <a:defRPr/>
              </a:pPr>
              <a:t>‹#›</a:t>
            </a:fld>
            <a:endParaRPr lang="en-US" dirty="0"/>
          </a:p>
        </p:txBody>
      </p:sp>
    </p:spTree>
    <p:extLst>
      <p:ext uri="{BB962C8B-B14F-4D97-AF65-F5344CB8AC3E}">
        <p14:creationId xmlns:p14="http://schemas.microsoft.com/office/powerpoint/2010/main" val="88671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84F6B56B-96C5-4313-A668-0E8D00895572}" type="slidenum">
              <a:rPr lang="en-US"/>
              <a:pPr>
                <a:defRPr/>
              </a:pPr>
              <a:t>‹#›</a:t>
            </a:fld>
            <a:endParaRPr lang="en-US" dirty="0"/>
          </a:p>
        </p:txBody>
      </p:sp>
    </p:spTree>
    <p:extLst>
      <p:ext uri="{BB962C8B-B14F-4D97-AF65-F5344CB8AC3E}">
        <p14:creationId xmlns:p14="http://schemas.microsoft.com/office/powerpoint/2010/main" val="2826946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0C909190-6203-4C4C-8A18-46DBB14237D6}" type="slidenum">
              <a:rPr lang="en-US"/>
              <a:pPr>
                <a:defRPr/>
              </a:pPr>
              <a:t>‹#›</a:t>
            </a:fld>
            <a:endParaRPr lang="en-US" dirty="0"/>
          </a:p>
        </p:txBody>
      </p:sp>
    </p:spTree>
    <p:extLst>
      <p:ext uri="{BB962C8B-B14F-4D97-AF65-F5344CB8AC3E}">
        <p14:creationId xmlns:p14="http://schemas.microsoft.com/office/powerpoint/2010/main" val="152245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9198BDD3-4F8A-4BA4-8AF5-67790955C682}" type="slidenum">
              <a:rPr lang="en-US"/>
              <a:pPr>
                <a:defRPr/>
              </a:pPr>
              <a:t>‹#›</a:t>
            </a:fld>
            <a:endParaRPr lang="en-US" dirty="0"/>
          </a:p>
        </p:txBody>
      </p:sp>
    </p:spTree>
    <p:extLst>
      <p:ext uri="{BB962C8B-B14F-4D97-AF65-F5344CB8AC3E}">
        <p14:creationId xmlns:p14="http://schemas.microsoft.com/office/powerpoint/2010/main" val="2649575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CFF55A6F-720D-4FDB-934D-E8E71140F37D}" type="slidenum">
              <a:rPr lang="en-US"/>
              <a:pPr>
                <a:defRPr/>
              </a:pPr>
              <a:t>‹#›</a:t>
            </a:fld>
            <a:endParaRPr lang="en-US" dirty="0"/>
          </a:p>
        </p:txBody>
      </p:sp>
    </p:spTree>
    <p:extLst>
      <p:ext uri="{BB962C8B-B14F-4D97-AF65-F5344CB8AC3E}">
        <p14:creationId xmlns:p14="http://schemas.microsoft.com/office/powerpoint/2010/main" val="11006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EB4F72BE-8C5A-4BA9-BF35-49F51AA65660}" type="slidenum">
              <a:rPr lang="en-US"/>
              <a:pPr>
                <a:defRPr/>
              </a:pPr>
              <a:t>‹#›</a:t>
            </a:fld>
            <a:endParaRPr lang="en-US" dirty="0"/>
          </a:p>
        </p:txBody>
      </p:sp>
    </p:spTree>
    <p:extLst>
      <p:ext uri="{BB962C8B-B14F-4D97-AF65-F5344CB8AC3E}">
        <p14:creationId xmlns:p14="http://schemas.microsoft.com/office/powerpoint/2010/main" val="582678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B659D9C9-99E0-4E6C-B508-A3C9D50859BD}" type="slidenum">
              <a:rPr lang="en-US"/>
              <a:pPr>
                <a:defRPr/>
              </a:pPr>
              <a:t>‹#›</a:t>
            </a:fld>
            <a:endParaRPr lang="en-US" dirty="0"/>
          </a:p>
        </p:txBody>
      </p:sp>
    </p:spTree>
    <p:extLst>
      <p:ext uri="{BB962C8B-B14F-4D97-AF65-F5344CB8AC3E}">
        <p14:creationId xmlns:p14="http://schemas.microsoft.com/office/powerpoint/2010/main" val="1143116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51DDC1E6-FB8B-41CB-AF9E-D2B1A616CC23}" type="slidenum">
              <a:rPr lang="en-US"/>
              <a:pPr>
                <a:defRPr/>
              </a:pPr>
              <a:t>‹#›</a:t>
            </a:fld>
            <a:endParaRPr lang="en-US" dirty="0"/>
          </a:p>
        </p:txBody>
      </p:sp>
    </p:spTree>
    <p:extLst>
      <p:ext uri="{BB962C8B-B14F-4D97-AF65-F5344CB8AC3E}">
        <p14:creationId xmlns:p14="http://schemas.microsoft.com/office/powerpoint/2010/main" val="37132628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dirty="0"/>
              <a:t>6/15/12</a:t>
            </a:r>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AE01518-CE3B-4ACC-AA66-F215F75E4E68}" type="slidenum">
              <a:rPr lang="en-US"/>
              <a:pPr>
                <a:defRPr/>
              </a:pPr>
              <a:t>‹#›</a:t>
            </a:fld>
            <a:endParaRPr lang="en-US" dirty="0"/>
          </a:p>
        </p:txBody>
      </p:sp>
    </p:spTree>
    <p:extLst>
      <p:ext uri="{BB962C8B-B14F-4D97-AF65-F5344CB8AC3E}">
        <p14:creationId xmlns:p14="http://schemas.microsoft.com/office/powerpoint/2010/main" val="2709131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dirty="0"/>
              <a:t>6/15/12</a:t>
            </a:r>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16A91D4-BF47-4B73-AE09-3B2B883F22CF}" type="slidenum">
              <a:rPr lang="en-US"/>
              <a:pPr>
                <a:defRPr/>
              </a:pPr>
              <a:t>‹#›</a:t>
            </a:fld>
            <a:endParaRPr lang="en-US" dirty="0"/>
          </a:p>
        </p:txBody>
      </p:sp>
    </p:spTree>
    <p:extLst>
      <p:ext uri="{BB962C8B-B14F-4D97-AF65-F5344CB8AC3E}">
        <p14:creationId xmlns:p14="http://schemas.microsoft.com/office/powerpoint/2010/main" val="112791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dirty="0"/>
              <a:t>6/15/12</a:t>
            </a:r>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8C21E2F-DCDF-42A6-9640-A0A4DF91340C}" type="slidenum">
              <a:rPr lang="en-US"/>
              <a:pPr>
                <a:defRPr/>
              </a:pPr>
              <a:t>‹#›</a:t>
            </a:fld>
            <a:endParaRPr lang="en-US" dirty="0"/>
          </a:p>
        </p:txBody>
      </p:sp>
    </p:spTree>
    <p:extLst>
      <p:ext uri="{BB962C8B-B14F-4D97-AF65-F5344CB8AC3E}">
        <p14:creationId xmlns:p14="http://schemas.microsoft.com/office/powerpoint/2010/main" val="1806557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dirty="0"/>
              <a:t>6/15/12</a:t>
            </a:r>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83E9CFC-97EB-4D7B-80E5-8D4D9D441F41}" type="slidenum">
              <a:rPr lang="en-US"/>
              <a:pPr>
                <a:defRPr/>
              </a:pPr>
              <a:t>‹#›</a:t>
            </a:fld>
            <a:endParaRPr lang="en-US" dirty="0"/>
          </a:p>
        </p:txBody>
      </p:sp>
    </p:spTree>
    <p:extLst>
      <p:ext uri="{BB962C8B-B14F-4D97-AF65-F5344CB8AC3E}">
        <p14:creationId xmlns:p14="http://schemas.microsoft.com/office/powerpoint/2010/main" val="2997837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dirty="0"/>
              <a:t>6/15/12</a:t>
            </a:r>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E8C4D26-BCA6-4723-8196-A704F2D09B5F}" type="slidenum">
              <a:rPr lang="en-US"/>
              <a:pPr>
                <a:defRPr/>
              </a:pPr>
              <a:t>‹#›</a:t>
            </a:fld>
            <a:endParaRPr lang="en-US" dirty="0"/>
          </a:p>
        </p:txBody>
      </p:sp>
    </p:spTree>
    <p:extLst>
      <p:ext uri="{BB962C8B-B14F-4D97-AF65-F5344CB8AC3E}">
        <p14:creationId xmlns:p14="http://schemas.microsoft.com/office/powerpoint/2010/main" val="3299458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dirty="0"/>
              <a:t>6/15/12</a:t>
            </a:r>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6F54608-8141-4BB2-A106-CF42F1E68C93}" type="slidenum">
              <a:rPr lang="en-US"/>
              <a:pPr>
                <a:defRPr/>
              </a:pPr>
              <a:t>‹#›</a:t>
            </a:fld>
            <a:endParaRPr lang="en-US" dirty="0"/>
          </a:p>
        </p:txBody>
      </p:sp>
    </p:spTree>
    <p:extLst>
      <p:ext uri="{BB962C8B-B14F-4D97-AF65-F5344CB8AC3E}">
        <p14:creationId xmlns:p14="http://schemas.microsoft.com/office/powerpoint/2010/main" val="28790413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dirty="0"/>
              <a:t>6/15/12</a:t>
            </a:r>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CC5F72F5-EBD2-4713-9348-E3E35A7E4BB0}" type="slidenum">
              <a:rPr lang="en-US"/>
              <a:pPr>
                <a:defRPr/>
              </a:pPr>
              <a:t>‹#›</a:t>
            </a:fld>
            <a:endParaRPr lang="en-US" dirty="0"/>
          </a:p>
        </p:txBody>
      </p:sp>
    </p:spTree>
    <p:extLst>
      <p:ext uri="{BB962C8B-B14F-4D97-AF65-F5344CB8AC3E}">
        <p14:creationId xmlns:p14="http://schemas.microsoft.com/office/powerpoint/2010/main" val="7972716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dirty="0"/>
              <a:t>6/15/12</a:t>
            </a:r>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34B2F4E-CCDA-4B4A-819D-255434E55C59}" type="slidenum">
              <a:rPr lang="en-US"/>
              <a:pPr>
                <a:defRPr/>
              </a:pPr>
              <a:t>‹#›</a:t>
            </a:fld>
            <a:endParaRPr lang="en-US" dirty="0"/>
          </a:p>
        </p:txBody>
      </p:sp>
    </p:spTree>
    <p:extLst>
      <p:ext uri="{BB962C8B-B14F-4D97-AF65-F5344CB8AC3E}">
        <p14:creationId xmlns:p14="http://schemas.microsoft.com/office/powerpoint/2010/main" val="2951888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dirty="0"/>
              <a:t>6/15/12</a:t>
            </a:r>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F8586D2-A154-43FB-96DB-42AC969751C2}" type="slidenum">
              <a:rPr lang="en-US"/>
              <a:pPr>
                <a:defRPr/>
              </a:pPr>
              <a:t>‹#›</a:t>
            </a:fld>
            <a:endParaRPr lang="en-US" dirty="0"/>
          </a:p>
        </p:txBody>
      </p:sp>
    </p:spTree>
    <p:extLst>
      <p:ext uri="{BB962C8B-B14F-4D97-AF65-F5344CB8AC3E}">
        <p14:creationId xmlns:p14="http://schemas.microsoft.com/office/powerpoint/2010/main" val="960666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dirty="0"/>
              <a:t>6/15/12</a:t>
            </a:r>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0866E4F-139E-4AE0-8A01-4943FB59BFC4}" type="slidenum">
              <a:rPr lang="en-US"/>
              <a:pPr>
                <a:defRPr/>
              </a:pPr>
              <a:t>‹#›</a:t>
            </a:fld>
            <a:endParaRPr lang="en-US" dirty="0"/>
          </a:p>
        </p:txBody>
      </p:sp>
    </p:spTree>
    <p:extLst>
      <p:ext uri="{BB962C8B-B14F-4D97-AF65-F5344CB8AC3E}">
        <p14:creationId xmlns:p14="http://schemas.microsoft.com/office/powerpoint/2010/main" val="1171060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dirty="0"/>
              <a:t>6/15/12</a:t>
            </a:r>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DF7FA62-D771-4C0D-B16C-277EF58E5D08}" type="slidenum">
              <a:rPr lang="en-US"/>
              <a:pPr>
                <a:defRPr/>
              </a:pPr>
              <a:t>‹#›</a:t>
            </a:fld>
            <a:endParaRPr lang="en-US" dirty="0"/>
          </a:p>
        </p:txBody>
      </p:sp>
    </p:spTree>
    <p:extLst>
      <p:ext uri="{BB962C8B-B14F-4D97-AF65-F5344CB8AC3E}">
        <p14:creationId xmlns:p14="http://schemas.microsoft.com/office/powerpoint/2010/main" val="19291632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dirty="0"/>
              <a:t>6/15/12</a:t>
            </a:r>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572CE6F4-E272-488F-BAC6-E0093A47C9C0}" type="slidenum">
              <a:rPr lang="en-US"/>
              <a:pPr>
                <a:defRPr/>
              </a:pPr>
              <a:t>‹#›</a:t>
            </a:fld>
            <a:endParaRPr lang="en-US" dirty="0"/>
          </a:p>
        </p:txBody>
      </p:sp>
    </p:spTree>
    <p:extLst>
      <p:ext uri="{BB962C8B-B14F-4D97-AF65-F5344CB8AC3E}">
        <p14:creationId xmlns:p14="http://schemas.microsoft.com/office/powerpoint/2010/main" val="3554666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47244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rgbClr val="003366"/>
                </a:solidFill>
                <a:cs typeface="+mn-cs"/>
              </a:defRPr>
            </a:lvl1pPr>
          </a:lstStyle>
          <a:p>
            <a:pPr>
              <a:defRPr/>
            </a:pPr>
            <a:endParaRPr lang="en-US"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003067"/>
                </a:solidFill>
                <a:cs typeface="+mn-cs"/>
              </a:defRPr>
            </a:lvl1pPr>
          </a:lstStyle>
          <a:p>
            <a:pPr>
              <a:defRPr/>
            </a:pPr>
            <a:fld id="{CC141F91-D53D-465C-8CB7-6EA6426FD9B8}" type="slidenum">
              <a:rPr lang="en-US"/>
              <a:pPr>
                <a:defRPr/>
              </a:pPr>
              <a:t>‹#›</a:t>
            </a:fld>
            <a:endParaRPr lang="en-US" dirty="0"/>
          </a:p>
        </p:txBody>
      </p:sp>
      <p:sp>
        <p:nvSpPr>
          <p:cNvPr id="2" name="Line 7"/>
          <p:cNvSpPr>
            <a:spLocks noChangeShapeType="1"/>
          </p:cNvSpPr>
          <p:nvPr/>
        </p:nvSpPr>
        <p:spPr bwMode="auto">
          <a:xfrm>
            <a:off x="457200" y="6172200"/>
            <a:ext cx="8305800" cy="0"/>
          </a:xfrm>
          <a:prstGeom prst="line">
            <a:avLst/>
          </a:prstGeom>
          <a:noFill/>
          <a:ln w="28575">
            <a:solidFill>
              <a:srgbClr val="003067"/>
            </a:solidFill>
            <a:round/>
            <a:headEnd/>
            <a:tailEnd/>
          </a:ln>
        </p:spPr>
        <p:txBody>
          <a:bodyPr/>
          <a:lstStyle/>
          <a:p>
            <a:pPr>
              <a:defRPr/>
            </a:pPr>
            <a:endParaRPr lang="en-US" dirty="0"/>
          </a:p>
        </p:txBody>
      </p:sp>
      <p:pic>
        <p:nvPicPr>
          <p:cNvPr id="1031" name="Picture 9" descr="cu_logo"/>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3875" y="6238875"/>
            <a:ext cx="33623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ctr" rtl="0" eaLnBrk="0" fontAlgn="base" hangingPunct="0">
        <a:spcBef>
          <a:spcPct val="0"/>
        </a:spcBef>
        <a:spcAft>
          <a:spcPct val="0"/>
        </a:spcAft>
        <a:defRPr sz="4400">
          <a:solidFill>
            <a:srgbClr val="000099"/>
          </a:solidFill>
          <a:latin typeface="+mj-lt"/>
          <a:ea typeface="+mj-ea"/>
          <a:cs typeface="+mj-cs"/>
        </a:defRPr>
      </a:lvl1pPr>
      <a:lvl2pPr algn="ctr" rtl="0" eaLnBrk="0" fontAlgn="base" hangingPunct="0">
        <a:spcBef>
          <a:spcPct val="0"/>
        </a:spcBef>
        <a:spcAft>
          <a:spcPct val="0"/>
        </a:spcAft>
        <a:defRPr sz="4400">
          <a:solidFill>
            <a:srgbClr val="000099"/>
          </a:solidFill>
          <a:latin typeface="Georgia" pitchFamily="18" charset="0"/>
        </a:defRPr>
      </a:lvl2pPr>
      <a:lvl3pPr algn="ctr" rtl="0" eaLnBrk="0" fontAlgn="base" hangingPunct="0">
        <a:spcBef>
          <a:spcPct val="0"/>
        </a:spcBef>
        <a:spcAft>
          <a:spcPct val="0"/>
        </a:spcAft>
        <a:defRPr sz="4400">
          <a:solidFill>
            <a:srgbClr val="000099"/>
          </a:solidFill>
          <a:latin typeface="Georgia" pitchFamily="18" charset="0"/>
        </a:defRPr>
      </a:lvl3pPr>
      <a:lvl4pPr algn="ctr" rtl="0" eaLnBrk="0" fontAlgn="base" hangingPunct="0">
        <a:spcBef>
          <a:spcPct val="0"/>
        </a:spcBef>
        <a:spcAft>
          <a:spcPct val="0"/>
        </a:spcAft>
        <a:defRPr sz="4400">
          <a:solidFill>
            <a:srgbClr val="000099"/>
          </a:solidFill>
          <a:latin typeface="Georgia" pitchFamily="18" charset="0"/>
        </a:defRPr>
      </a:lvl4pPr>
      <a:lvl5pPr algn="ctr" rtl="0" eaLnBrk="0" fontAlgn="base" hangingPunct="0">
        <a:spcBef>
          <a:spcPct val="0"/>
        </a:spcBef>
        <a:spcAft>
          <a:spcPct val="0"/>
        </a:spcAft>
        <a:defRPr sz="4400">
          <a:solidFill>
            <a:srgbClr val="000099"/>
          </a:solidFill>
          <a:latin typeface="Georgia" pitchFamily="18" charset="0"/>
        </a:defRPr>
      </a:lvl5pPr>
      <a:lvl6pPr marL="457200" algn="ctr" rtl="0" fontAlgn="base">
        <a:spcBef>
          <a:spcPct val="0"/>
        </a:spcBef>
        <a:spcAft>
          <a:spcPct val="0"/>
        </a:spcAft>
        <a:defRPr sz="4400">
          <a:solidFill>
            <a:srgbClr val="000099"/>
          </a:solidFill>
          <a:latin typeface="Arial" charset="0"/>
        </a:defRPr>
      </a:lvl6pPr>
      <a:lvl7pPr marL="914400" algn="ctr" rtl="0" fontAlgn="base">
        <a:spcBef>
          <a:spcPct val="0"/>
        </a:spcBef>
        <a:spcAft>
          <a:spcPct val="0"/>
        </a:spcAft>
        <a:defRPr sz="4400">
          <a:solidFill>
            <a:srgbClr val="000099"/>
          </a:solidFill>
          <a:latin typeface="Arial" charset="0"/>
        </a:defRPr>
      </a:lvl7pPr>
      <a:lvl8pPr marL="1371600" algn="ctr" rtl="0" fontAlgn="base">
        <a:spcBef>
          <a:spcPct val="0"/>
        </a:spcBef>
        <a:spcAft>
          <a:spcPct val="0"/>
        </a:spcAft>
        <a:defRPr sz="4400">
          <a:solidFill>
            <a:srgbClr val="000099"/>
          </a:solidFill>
          <a:latin typeface="Arial" charset="0"/>
        </a:defRPr>
      </a:lvl8pPr>
      <a:lvl9pPr marL="1828800" algn="ctr" rtl="0" fontAlgn="base">
        <a:spcBef>
          <a:spcPct val="0"/>
        </a:spcBef>
        <a:spcAft>
          <a:spcPct val="0"/>
        </a:spcAft>
        <a:defRPr sz="4400">
          <a:solidFill>
            <a:srgbClr val="000099"/>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r>
              <a:rPr lang="en-US" dirty="0"/>
              <a:t>6/15/12</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324D012-F067-4AAA-86DA-D04E314B06BE}"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sldNum="0"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columbia.edu/cu/vpaa/fhb/"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rascal.columbia.edu/"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ascal.columbia.edu/"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rascal.columbia.edu/ir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7700" y="990600"/>
            <a:ext cx="7772400" cy="1470025"/>
          </a:xfrm>
        </p:spPr>
        <p:txBody>
          <a:bodyPr/>
          <a:lstStyle/>
          <a:p>
            <a:r>
              <a:rPr lang="en-US" sz="3500" dirty="0">
                <a:latin typeface="Calibri" panose="020F0502020204030204" pitchFamily="34" charset="0"/>
                <a:cs typeface="Arial" panose="020B0604020202020204" pitchFamily="34" charset="0"/>
              </a:rPr>
              <a:t>Human Subjects Research Overview: HRPO/IRB</a:t>
            </a:r>
          </a:p>
        </p:txBody>
      </p:sp>
      <p:sp>
        <p:nvSpPr>
          <p:cNvPr id="3" name="Subtitle 2"/>
          <p:cNvSpPr>
            <a:spLocks noGrp="1"/>
          </p:cNvSpPr>
          <p:nvPr>
            <p:ph type="subTitle" idx="1"/>
          </p:nvPr>
        </p:nvSpPr>
        <p:spPr>
          <a:xfrm>
            <a:off x="1333500" y="4114800"/>
            <a:ext cx="6400800" cy="1828800"/>
          </a:xfrm>
        </p:spPr>
        <p:txBody>
          <a:bodyPr/>
          <a:lstStyle/>
          <a:p>
            <a:r>
              <a:rPr lang="en-US" dirty="0">
                <a:solidFill>
                  <a:srgbClr val="0070C0"/>
                </a:solidFill>
                <a:latin typeface="Calibri" panose="020F0502020204030204" pitchFamily="34" charset="0"/>
                <a:cs typeface="Arial" panose="020B0604020202020204" pitchFamily="34" charset="0"/>
              </a:rPr>
              <a:t>Stephanie Stanford</a:t>
            </a:r>
          </a:p>
          <a:p>
            <a:r>
              <a:rPr lang="en-US" sz="2500" dirty="0">
                <a:latin typeface="Calibri" panose="020F0502020204030204" pitchFamily="34" charset="0"/>
                <a:cs typeface="Arial" panose="020B0604020202020204" pitchFamily="34" charset="0"/>
              </a:rPr>
              <a:t>IRB Specialist</a:t>
            </a:r>
          </a:p>
          <a:p>
            <a:r>
              <a:rPr lang="en-US" sz="2500" dirty="0">
                <a:latin typeface="Calibri" panose="020F0502020204030204" pitchFamily="34" charset="0"/>
                <a:cs typeface="Arial" panose="020B0604020202020204" pitchFamily="34" charset="0"/>
              </a:rPr>
              <a:t>Human Research Protections Office</a:t>
            </a:r>
          </a:p>
          <a:p>
            <a:r>
              <a:rPr lang="en-US" sz="2500" dirty="0">
                <a:latin typeface="Calibri" panose="020F0502020204030204" pitchFamily="34" charset="0"/>
                <a:cs typeface="Arial" panose="020B0604020202020204" pitchFamily="34" charset="0"/>
              </a:rPr>
              <a:t>Academic Review Committee (ARC)</a:t>
            </a:r>
          </a:p>
        </p:txBody>
      </p:sp>
      <p:cxnSp>
        <p:nvCxnSpPr>
          <p:cNvPr id="5" name="Straight Connector 4"/>
          <p:cNvCxnSpPr/>
          <p:nvPr/>
        </p:nvCxnSpPr>
        <p:spPr>
          <a:xfrm>
            <a:off x="914400" y="2667000"/>
            <a:ext cx="7239000" cy="0"/>
          </a:xfrm>
          <a:prstGeom prst="line">
            <a:avLst/>
          </a:prstGeom>
          <a:ln w="38100"/>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3505200" y="3048000"/>
            <a:ext cx="2209800" cy="969496"/>
          </a:xfrm>
          <a:prstGeom prst="rect">
            <a:avLst/>
          </a:prstGeom>
          <a:noFill/>
        </p:spPr>
        <p:txBody>
          <a:bodyPr wrap="square" rtlCol="0">
            <a:spAutoFit/>
          </a:bodyPr>
          <a:lstStyle/>
          <a:p>
            <a:pPr algn="ctr"/>
            <a:r>
              <a:rPr lang="en-US" sz="3200" dirty="0">
                <a:solidFill>
                  <a:srgbClr val="0070C0"/>
                </a:solidFill>
                <a:latin typeface="Calibri" panose="020F0502020204030204" pitchFamily="34" charset="0"/>
                <a:cs typeface="Arial" panose="020B0604020202020204" pitchFamily="34" charset="0"/>
              </a:rPr>
              <a:t>Annie Barry</a:t>
            </a:r>
          </a:p>
          <a:p>
            <a:pPr algn="ctr"/>
            <a:r>
              <a:rPr lang="en-US" sz="2500" dirty="0">
                <a:latin typeface="Calibri" panose="020F0502020204030204" pitchFamily="34" charset="0"/>
                <a:cs typeface="Arial" panose="020B0604020202020204" pitchFamily="34" charset="0"/>
              </a:rPr>
              <a:t>Manager</a:t>
            </a:r>
          </a:p>
        </p:txBody>
      </p:sp>
    </p:spTree>
    <p:extLst>
      <p:ext uri="{BB962C8B-B14F-4D97-AF65-F5344CB8AC3E}">
        <p14:creationId xmlns:p14="http://schemas.microsoft.com/office/powerpoint/2010/main" val="18130079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rPr>
              <a:t>What is the HRPO?</a:t>
            </a:r>
          </a:p>
        </p:txBody>
      </p:sp>
      <p:sp>
        <p:nvSpPr>
          <p:cNvPr id="3" name="Content Placeholder 2"/>
          <p:cNvSpPr>
            <a:spLocks noGrp="1"/>
          </p:cNvSpPr>
          <p:nvPr>
            <p:ph idx="1"/>
          </p:nvPr>
        </p:nvSpPr>
        <p:spPr/>
        <p:txBody>
          <a:bodyPr/>
          <a:lstStyle/>
          <a:p>
            <a:r>
              <a:rPr lang="en-US" dirty="0">
                <a:latin typeface="Calibri" panose="020F0502020204030204" pitchFamily="34" charset="0"/>
              </a:rPr>
              <a:t>HRPO=Human Research Protection Office</a:t>
            </a:r>
          </a:p>
          <a:p>
            <a:r>
              <a:rPr lang="en-US" dirty="0">
                <a:latin typeface="Calibri" panose="020F0502020204030204" pitchFamily="34" charset="0"/>
              </a:rPr>
              <a:t>HRPO staff:</a:t>
            </a:r>
          </a:p>
          <a:p>
            <a:pPr>
              <a:buFont typeface="Wingdings" panose="05000000000000000000" pitchFamily="2" charset="2"/>
              <a:buChar char="ü"/>
            </a:pPr>
            <a:r>
              <a:rPr lang="en-US" dirty="0">
                <a:latin typeface="Calibri" panose="020F0502020204030204" pitchFamily="34" charset="0"/>
              </a:rPr>
              <a:t>Provide guidance to investigators</a:t>
            </a:r>
          </a:p>
          <a:p>
            <a:pPr>
              <a:buFont typeface="Wingdings" panose="05000000000000000000" pitchFamily="2" charset="2"/>
              <a:buChar char="ü"/>
            </a:pPr>
            <a:r>
              <a:rPr lang="en-US" dirty="0">
                <a:latin typeface="Calibri" panose="020F0502020204030204" pitchFamily="34" charset="0"/>
              </a:rPr>
              <a:t>Conduct pre-reviews of protocols submitted for IRB review</a:t>
            </a:r>
          </a:p>
          <a:p>
            <a:pPr>
              <a:buFont typeface="Wingdings" panose="05000000000000000000" pitchFamily="2" charset="2"/>
              <a:buChar char="ü"/>
            </a:pPr>
            <a:r>
              <a:rPr lang="en-US" dirty="0">
                <a:latin typeface="Calibri" panose="020F0502020204030204" pitchFamily="34" charset="0"/>
              </a:rPr>
              <a:t>Provide administrative support for the IRB</a:t>
            </a:r>
          </a:p>
          <a:p>
            <a:pPr>
              <a:buFont typeface="Wingdings" panose="05000000000000000000" pitchFamily="2" charset="2"/>
              <a:buChar char="ü"/>
            </a:pPr>
            <a:endParaRPr lang="en-US" dirty="0"/>
          </a:p>
          <a:p>
            <a:endParaRPr lang="en-US" dirty="0"/>
          </a:p>
        </p:txBody>
      </p:sp>
    </p:spTree>
    <p:extLst>
      <p:ext uri="{BB962C8B-B14F-4D97-AF65-F5344CB8AC3E}">
        <p14:creationId xmlns:p14="http://schemas.microsoft.com/office/powerpoint/2010/main" val="1402664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pitchFamily="34" charset="0"/>
              </a:rPr>
              <a:t>IRB = Institutional Review Board</a:t>
            </a:r>
          </a:p>
        </p:txBody>
      </p:sp>
      <p:sp>
        <p:nvSpPr>
          <p:cNvPr id="4" name="Rectangle 3"/>
          <p:cNvSpPr/>
          <p:nvPr/>
        </p:nvSpPr>
        <p:spPr>
          <a:xfrm>
            <a:off x="298938" y="1806071"/>
            <a:ext cx="8534400" cy="1754326"/>
          </a:xfrm>
          <a:prstGeom prst="rect">
            <a:avLst/>
          </a:prstGeom>
        </p:spPr>
        <p:txBody>
          <a:bodyPr wrap="square">
            <a:spAutoFit/>
          </a:bodyPr>
          <a:lstStyle/>
          <a:p>
            <a:pPr>
              <a:lnSpc>
                <a:spcPct val="90000"/>
              </a:lnSpc>
            </a:pPr>
            <a:r>
              <a:rPr lang="en-US" sz="2400" b="0" dirty="0">
                <a:latin typeface="Calibri" panose="020F0502020204030204" pitchFamily="34" charset="0"/>
                <a:cs typeface="Arial" panose="020B0604020202020204" pitchFamily="34" charset="0"/>
              </a:rPr>
              <a:t>An </a:t>
            </a:r>
            <a:r>
              <a:rPr lang="en-US" sz="2400" dirty="0">
                <a:latin typeface="Calibri" panose="020F0502020204030204" pitchFamily="34" charset="0"/>
                <a:cs typeface="Arial" panose="020B0604020202020204" pitchFamily="34" charset="0"/>
              </a:rPr>
              <a:t>Institutional Review Board (IRB) </a:t>
            </a:r>
            <a:r>
              <a:rPr lang="en-US" sz="2400" b="0" dirty="0">
                <a:latin typeface="Calibri" panose="020F0502020204030204" pitchFamily="34" charset="0"/>
                <a:cs typeface="Arial" panose="020B0604020202020204" pitchFamily="34" charset="0"/>
              </a:rPr>
              <a:t>is </a:t>
            </a:r>
            <a:r>
              <a:rPr lang="en-US" sz="2400" dirty="0">
                <a:latin typeface="Calibri" panose="020F0502020204030204" pitchFamily="34" charset="0"/>
                <a:cs typeface="Arial" panose="020B0604020202020204" pitchFamily="34" charset="0"/>
              </a:rPr>
              <a:t>a </a:t>
            </a:r>
            <a:r>
              <a:rPr lang="en-US" sz="2400" b="0" dirty="0">
                <a:latin typeface="Calibri" panose="020F0502020204030204" pitchFamily="34" charset="0"/>
                <a:cs typeface="Arial" panose="020B0604020202020204" pitchFamily="34" charset="0"/>
              </a:rPr>
              <a:t>body established to protect the rights and welfare of human research subjects recruited to participate in research activities</a:t>
            </a:r>
          </a:p>
          <a:p>
            <a:pPr>
              <a:lnSpc>
                <a:spcPct val="90000"/>
              </a:lnSpc>
            </a:pPr>
            <a:endParaRPr lang="en-US" sz="2400" dirty="0">
              <a:latin typeface="Calibri" panose="020F0502020204030204" pitchFamily="34" charset="0"/>
              <a:cs typeface="Arial" panose="020B0604020202020204" pitchFamily="34" charset="0"/>
            </a:endParaRPr>
          </a:p>
          <a:p>
            <a:pPr>
              <a:lnSpc>
                <a:spcPct val="90000"/>
              </a:lnSpc>
            </a:pPr>
            <a:endParaRPr lang="en-US" sz="2400" b="0" dirty="0">
              <a:latin typeface="Calibri" panose="020F0502020204030204" pitchFamily="34" charset="0"/>
              <a:cs typeface="Arial" panose="020B0604020202020204" pitchFamily="34" charset="0"/>
            </a:endParaRPr>
          </a:p>
        </p:txBody>
      </p:sp>
      <p:graphicFrame>
        <p:nvGraphicFramePr>
          <p:cNvPr id="5" name="Diagram 4"/>
          <p:cNvGraphicFramePr/>
          <p:nvPr>
            <p:extLst>
              <p:ext uri="{D42A27DB-BD31-4B8C-83A1-F6EECF244321}">
                <p14:modId xmlns:p14="http://schemas.microsoft.com/office/powerpoint/2010/main" val="3529871848"/>
              </p:ext>
            </p:extLst>
          </p:nvPr>
        </p:nvGraphicFramePr>
        <p:xfrm>
          <a:off x="447292" y="3124200"/>
          <a:ext cx="8382000" cy="281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5774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3000"/>
                                  </p:stCondLst>
                                  <p:childTnLst>
                                    <p:set>
                                      <p:cBhvr>
                                        <p:cTn id="6" dur="1" fill="hold">
                                          <p:stCondLst>
                                            <p:cond delay="0"/>
                                          </p:stCondLst>
                                        </p:cTn>
                                        <p:tgtEl>
                                          <p:spTgt spid="5">
                                            <p:graphicEl>
                                              <a:dgm id="{7E429971-BC57-430F-BB25-C0574E5E39E3}"/>
                                            </p:graphicEl>
                                          </p:spTgt>
                                        </p:tgtEl>
                                        <p:attrNameLst>
                                          <p:attrName>style.visibility</p:attrName>
                                        </p:attrNameLst>
                                      </p:cBhvr>
                                      <p:to>
                                        <p:strVal val="visible"/>
                                      </p:to>
                                    </p:set>
                                    <p:animEffect transition="in" filter="randombar(horizontal)">
                                      <p:cBhvr>
                                        <p:cTn id="7" dur="500"/>
                                        <p:tgtEl>
                                          <p:spTgt spid="5">
                                            <p:graphicEl>
                                              <a:dgm id="{7E429971-BC57-430F-BB25-C0574E5E39E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3000"/>
                                  </p:stCondLst>
                                  <p:childTnLst>
                                    <p:set>
                                      <p:cBhvr>
                                        <p:cTn id="11" dur="1" fill="hold">
                                          <p:stCondLst>
                                            <p:cond delay="0"/>
                                          </p:stCondLst>
                                        </p:cTn>
                                        <p:tgtEl>
                                          <p:spTgt spid="5">
                                            <p:graphicEl>
                                              <a:dgm id="{D54B1729-BC98-42C1-9C6C-D65DCBA4358F}"/>
                                            </p:graphicEl>
                                          </p:spTgt>
                                        </p:tgtEl>
                                        <p:attrNameLst>
                                          <p:attrName>style.visibility</p:attrName>
                                        </p:attrNameLst>
                                      </p:cBhvr>
                                      <p:to>
                                        <p:strVal val="visible"/>
                                      </p:to>
                                    </p:set>
                                    <p:animEffect transition="in" filter="randombar(horizontal)">
                                      <p:cBhvr>
                                        <p:cTn id="12" dur="500"/>
                                        <p:tgtEl>
                                          <p:spTgt spid="5">
                                            <p:graphicEl>
                                              <a:dgm id="{D54B1729-BC98-42C1-9C6C-D65DCBA4358F}"/>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3000"/>
                                  </p:stCondLst>
                                  <p:childTnLst>
                                    <p:set>
                                      <p:cBhvr>
                                        <p:cTn id="16" dur="1" fill="hold">
                                          <p:stCondLst>
                                            <p:cond delay="0"/>
                                          </p:stCondLst>
                                        </p:cTn>
                                        <p:tgtEl>
                                          <p:spTgt spid="5">
                                            <p:graphicEl>
                                              <a:dgm id="{C04276DC-EE64-470A-B8BC-09067B8045FA}"/>
                                            </p:graphicEl>
                                          </p:spTgt>
                                        </p:tgtEl>
                                        <p:attrNameLst>
                                          <p:attrName>style.visibility</p:attrName>
                                        </p:attrNameLst>
                                      </p:cBhvr>
                                      <p:to>
                                        <p:strVal val="visible"/>
                                      </p:to>
                                    </p:set>
                                    <p:animEffect transition="in" filter="randombar(horizontal)">
                                      <p:cBhvr>
                                        <p:cTn id="17" dur="500"/>
                                        <p:tgtEl>
                                          <p:spTgt spid="5">
                                            <p:graphicEl>
                                              <a:dgm id="{C04276DC-EE64-470A-B8BC-09067B8045FA}"/>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3500"/>
                                  </p:stCondLst>
                                  <p:childTnLst>
                                    <p:set>
                                      <p:cBhvr>
                                        <p:cTn id="21" dur="1" fill="hold">
                                          <p:stCondLst>
                                            <p:cond delay="0"/>
                                          </p:stCondLst>
                                        </p:cTn>
                                        <p:tgtEl>
                                          <p:spTgt spid="5">
                                            <p:graphicEl>
                                              <a:dgm id="{B37A5355-225B-4C6F-AED7-6C620F99EECC}"/>
                                            </p:graphicEl>
                                          </p:spTgt>
                                        </p:tgtEl>
                                        <p:attrNameLst>
                                          <p:attrName>style.visibility</p:attrName>
                                        </p:attrNameLst>
                                      </p:cBhvr>
                                      <p:to>
                                        <p:strVal val="visible"/>
                                      </p:to>
                                    </p:set>
                                    <p:animEffect transition="in" filter="randombar(horizontal)">
                                      <p:cBhvr>
                                        <p:cTn id="22" dur="2000"/>
                                        <p:tgtEl>
                                          <p:spTgt spid="5">
                                            <p:graphicEl>
                                              <a:dgm id="{B37A5355-225B-4C6F-AED7-6C620F99EECC}"/>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3000"/>
                                  </p:stCondLst>
                                  <p:childTnLst>
                                    <p:set>
                                      <p:cBhvr>
                                        <p:cTn id="26" dur="1" fill="hold">
                                          <p:stCondLst>
                                            <p:cond delay="0"/>
                                          </p:stCondLst>
                                        </p:cTn>
                                        <p:tgtEl>
                                          <p:spTgt spid="5">
                                            <p:graphicEl>
                                              <a:dgm id="{F5034101-5B7D-4FE7-B47A-5A48CF39606B}"/>
                                            </p:graphicEl>
                                          </p:spTgt>
                                        </p:tgtEl>
                                        <p:attrNameLst>
                                          <p:attrName>style.visibility</p:attrName>
                                        </p:attrNameLst>
                                      </p:cBhvr>
                                      <p:to>
                                        <p:strVal val="visible"/>
                                      </p:to>
                                    </p:set>
                                    <p:animEffect transition="in" filter="randombar(horizontal)">
                                      <p:cBhvr>
                                        <p:cTn id="27" dur="1000"/>
                                        <p:tgtEl>
                                          <p:spTgt spid="5">
                                            <p:graphicEl>
                                              <a:dgm id="{F5034101-5B7D-4FE7-B47A-5A48CF39606B}"/>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3000"/>
                                  </p:stCondLst>
                                  <p:childTnLst>
                                    <p:set>
                                      <p:cBhvr>
                                        <p:cTn id="31" dur="1" fill="hold">
                                          <p:stCondLst>
                                            <p:cond delay="0"/>
                                          </p:stCondLst>
                                        </p:cTn>
                                        <p:tgtEl>
                                          <p:spTgt spid="5">
                                            <p:graphicEl>
                                              <a:dgm id="{C7C3E6FD-D83F-4BDA-907E-B5EE041DA931}"/>
                                            </p:graphicEl>
                                          </p:spTgt>
                                        </p:tgtEl>
                                        <p:attrNameLst>
                                          <p:attrName>style.visibility</p:attrName>
                                        </p:attrNameLst>
                                      </p:cBhvr>
                                      <p:to>
                                        <p:strVal val="visible"/>
                                      </p:to>
                                    </p:set>
                                    <p:animEffect transition="in" filter="randombar(horizontal)">
                                      <p:cBhvr>
                                        <p:cTn id="32" dur="2000"/>
                                        <p:tgtEl>
                                          <p:spTgt spid="5">
                                            <p:graphicEl>
                                              <a:dgm id="{C7C3E6FD-D83F-4BDA-907E-B5EE041DA93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1" name="Rectangle 3"/>
          <p:cNvSpPr>
            <a:spLocks noGrp="1" noChangeArrowheads="1"/>
          </p:cNvSpPr>
          <p:nvPr>
            <p:ph idx="1"/>
          </p:nvPr>
        </p:nvSpPr>
        <p:spPr>
          <a:xfrm>
            <a:off x="228600" y="1981200"/>
            <a:ext cx="8610600" cy="4495800"/>
          </a:xfrm>
        </p:spPr>
        <p:txBody>
          <a:bodyPr lIns="90488" tIns="44450" rIns="90488" bIns="44450">
            <a:normAutofit/>
          </a:bodyPr>
          <a:lstStyle/>
          <a:p>
            <a:pPr marL="0" indent="0">
              <a:lnSpc>
                <a:spcPct val="90000"/>
              </a:lnSpc>
              <a:buNone/>
            </a:pPr>
            <a:r>
              <a:rPr lang="en-US" sz="2000" dirty="0">
                <a:latin typeface="Calibri" panose="020F0502020204030204" pitchFamily="34" charset="0"/>
                <a:cs typeface="Arial" panose="020B0604020202020204" pitchFamily="34" charset="0"/>
              </a:rPr>
              <a:t>Federal regulations define “research” as “…a</a:t>
            </a:r>
            <a:r>
              <a:rPr lang="en-US" sz="2000" b="1" dirty="0">
                <a:solidFill>
                  <a:srgbClr val="9999FF"/>
                </a:solidFill>
                <a:latin typeface="Calibri" panose="020F0502020204030204" pitchFamily="34" charset="0"/>
                <a:cs typeface="Arial" panose="020B0604020202020204" pitchFamily="34" charset="0"/>
              </a:rPr>
              <a:t> </a:t>
            </a:r>
            <a:r>
              <a:rPr lang="en-US" sz="2000" b="1" dirty="0">
                <a:solidFill>
                  <a:schemeClr val="accent6">
                    <a:lumMod val="75000"/>
                  </a:schemeClr>
                </a:solidFill>
                <a:latin typeface="Calibri" panose="020F0502020204030204" pitchFamily="34" charset="0"/>
                <a:cs typeface="Arial" panose="020B0604020202020204" pitchFamily="34" charset="0"/>
              </a:rPr>
              <a:t>systematic </a:t>
            </a:r>
            <a:r>
              <a:rPr lang="en-US" sz="2000" dirty="0">
                <a:latin typeface="Calibri" panose="020F0502020204030204" pitchFamily="34" charset="0"/>
                <a:cs typeface="Arial" panose="020B0604020202020204" pitchFamily="34" charset="0"/>
              </a:rPr>
              <a:t>investigation, including research development, testing and evaluation, designed to develop or contribute to </a:t>
            </a:r>
            <a:r>
              <a:rPr lang="en-US" sz="2000" b="1" dirty="0">
                <a:solidFill>
                  <a:schemeClr val="accent6">
                    <a:lumMod val="75000"/>
                  </a:schemeClr>
                </a:solidFill>
                <a:latin typeface="Calibri" panose="020F0502020204030204" pitchFamily="34" charset="0"/>
                <a:cs typeface="Arial" panose="020B0604020202020204" pitchFamily="34" charset="0"/>
              </a:rPr>
              <a:t>generalizable</a:t>
            </a:r>
            <a:r>
              <a:rPr lang="en-US" sz="2000" dirty="0">
                <a:solidFill>
                  <a:schemeClr val="accent6">
                    <a:lumMod val="75000"/>
                  </a:schemeClr>
                </a:solidFill>
                <a:latin typeface="Calibri" panose="020F0502020204030204" pitchFamily="34" charset="0"/>
                <a:cs typeface="Arial" panose="020B0604020202020204" pitchFamily="34" charset="0"/>
              </a:rPr>
              <a:t> </a:t>
            </a:r>
            <a:r>
              <a:rPr lang="en-US" sz="2000" b="1" dirty="0">
                <a:solidFill>
                  <a:schemeClr val="accent6">
                    <a:lumMod val="75000"/>
                  </a:schemeClr>
                </a:solidFill>
                <a:latin typeface="Calibri" panose="020F0502020204030204" pitchFamily="34" charset="0"/>
                <a:cs typeface="Arial" panose="020B0604020202020204" pitchFamily="34" charset="0"/>
              </a:rPr>
              <a:t>knowledge</a:t>
            </a:r>
            <a:r>
              <a:rPr lang="en-US" sz="2000" dirty="0">
                <a:latin typeface="Calibri" panose="020F0502020204030204" pitchFamily="34" charset="0"/>
                <a:cs typeface="Arial" panose="020B0604020202020204" pitchFamily="34" charset="0"/>
              </a:rPr>
              <a:t>.”</a:t>
            </a:r>
          </a:p>
          <a:p>
            <a:pPr marL="457200" lvl="1" indent="0">
              <a:lnSpc>
                <a:spcPct val="90000"/>
              </a:lnSpc>
              <a:buNone/>
            </a:pPr>
            <a:endParaRPr lang="en-US" sz="2000" dirty="0">
              <a:solidFill>
                <a:srgbClr val="9999FF"/>
              </a:solidFill>
              <a:latin typeface="Calibri" panose="020F0502020204030204" pitchFamily="34" charset="0"/>
              <a:cs typeface="Arial" panose="020B0604020202020204" pitchFamily="34" charset="0"/>
            </a:endParaRPr>
          </a:p>
          <a:p>
            <a:pPr lvl="1">
              <a:lnSpc>
                <a:spcPct val="90000"/>
              </a:lnSpc>
              <a:buFont typeface="Wingdings" pitchFamily="2" charset="2"/>
              <a:buChar char="Ø"/>
            </a:pPr>
            <a:r>
              <a:rPr lang="en-US" sz="2000" dirty="0">
                <a:latin typeface="Calibri" panose="020F0502020204030204" pitchFamily="34" charset="0"/>
                <a:cs typeface="Arial" panose="020B0604020202020204" pitchFamily="34" charset="0"/>
              </a:rPr>
              <a:t> </a:t>
            </a:r>
            <a:r>
              <a:rPr lang="en-US" sz="2000" dirty="0">
                <a:solidFill>
                  <a:schemeClr val="accent6">
                    <a:lumMod val="75000"/>
                  </a:schemeClr>
                </a:solidFill>
                <a:latin typeface="Calibri" panose="020F0502020204030204" pitchFamily="34" charset="0"/>
                <a:cs typeface="Arial" panose="020B0604020202020204" pitchFamily="34" charset="0"/>
              </a:rPr>
              <a:t>“</a:t>
            </a:r>
            <a:r>
              <a:rPr lang="en-US" sz="2000" b="1" dirty="0">
                <a:solidFill>
                  <a:schemeClr val="accent6">
                    <a:lumMod val="75000"/>
                  </a:schemeClr>
                </a:solidFill>
                <a:latin typeface="Calibri" panose="020F0502020204030204" pitchFamily="34" charset="0"/>
                <a:cs typeface="Arial" panose="020B0604020202020204" pitchFamily="34" charset="0"/>
              </a:rPr>
              <a:t>Systematic</a:t>
            </a:r>
            <a:r>
              <a:rPr lang="en-US" sz="2000" dirty="0">
                <a:solidFill>
                  <a:schemeClr val="accent6">
                    <a:lumMod val="75000"/>
                  </a:schemeClr>
                </a:solidFill>
                <a:latin typeface="Calibri" panose="020F0502020204030204" pitchFamily="34" charset="0"/>
                <a:cs typeface="Arial" panose="020B0604020202020204" pitchFamily="34" charset="0"/>
              </a:rPr>
              <a:t>” </a:t>
            </a:r>
            <a:r>
              <a:rPr lang="en-US" sz="2000" dirty="0">
                <a:latin typeface="Calibri" panose="020F0502020204030204" pitchFamily="34" charset="0"/>
                <a:cs typeface="Arial" panose="020B0604020202020204" pitchFamily="34" charset="0"/>
              </a:rPr>
              <a:t>means protocol-driven, i.e., accepted research methods are employed to gather data that will be analyzed to explore a research question. </a:t>
            </a:r>
          </a:p>
          <a:p>
            <a:pPr lvl="1">
              <a:lnSpc>
                <a:spcPct val="90000"/>
              </a:lnSpc>
              <a:buFont typeface="Wingdings" pitchFamily="2" charset="2"/>
              <a:buChar char="Ø"/>
            </a:pPr>
            <a:endParaRPr lang="en-US" sz="2000" dirty="0">
              <a:latin typeface="Calibri" panose="020F0502020204030204" pitchFamily="34" charset="0"/>
              <a:cs typeface="Arial" panose="020B0604020202020204" pitchFamily="34" charset="0"/>
            </a:endParaRPr>
          </a:p>
          <a:p>
            <a:pPr lvl="1">
              <a:lnSpc>
                <a:spcPct val="90000"/>
              </a:lnSpc>
              <a:buFont typeface="Wingdings" pitchFamily="2" charset="2"/>
              <a:buChar char="Ø"/>
            </a:pPr>
            <a:r>
              <a:rPr lang="en-US" sz="2000" dirty="0">
                <a:latin typeface="Calibri" panose="020F0502020204030204" pitchFamily="34" charset="0"/>
                <a:cs typeface="Arial" panose="020B0604020202020204" pitchFamily="34" charset="0"/>
              </a:rPr>
              <a:t> </a:t>
            </a:r>
            <a:r>
              <a:rPr lang="en-US" sz="2000" dirty="0">
                <a:solidFill>
                  <a:schemeClr val="accent6">
                    <a:lumMod val="75000"/>
                  </a:schemeClr>
                </a:solidFill>
                <a:latin typeface="Calibri" panose="020F0502020204030204" pitchFamily="34" charset="0"/>
                <a:cs typeface="Arial" panose="020B0604020202020204" pitchFamily="34" charset="0"/>
              </a:rPr>
              <a:t>“</a:t>
            </a:r>
            <a:r>
              <a:rPr lang="en-US" sz="2000" b="1" dirty="0">
                <a:solidFill>
                  <a:schemeClr val="accent6">
                    <a:lumMod val="75000"/>
                  </a:schemeClr>
                </a:solidFill>
                <a:latin typeface="Calibri" panose="020F0502020204030204" pitchFamily="34" charset="0"/>
                <a:cs typeface="Arial" panose="020B0604020202020204" pitchFamily="34" charset="0"/>
              </a:rPr>
              <a:t>Generalizable knowledge</a:t>
            </a:r>
            <a:r>
              <a:rPr lang="en-US" sz="2000" dirty="0">
                <a:solidFill>
                  <a:schemeClr val="accent6">
                    <a:lumMod val="75000"/>
                  </a:schemeClr>
                </a:solidFill>
                <a:latin typeface="Calibri" panose="020F0502020204030204" pitchFamily="34" charset="0"/>
                <a:cs typeface="Arial" panose="020B0604020202020204" pitchFamily="34" charset="0"/>
              </a:rPr>
              <a:t>” </a:t>
            </a:r>
            <a:r>
              <a:rPr lang="en-US" sz="2000" dirty="0">
                <a:latin typeface="Calibri" panose="020F0502020204030204" pitchFamily="34" charset="0"/>
                <a:cs typeface="Arial" panose="020B0604020202020204" pitchFamily="34" charset="0"/>
              </a:rPr>
              <a:t>is </a:t>
            </a:r>
          </a:p>
          <a:p>
            <a:pPr lvl="1">
              <a:lnSpc>
                <a:spcPct val="90000"/>
              </a:lnSpc>
              <a:buFont typeface="Courier New" panose="02070309020205020404" pitchFamily="49" charset="0"/>
              <a:buChar char="o"/>
            </a:pPr>
            <a:r>
              <a:rPr lang="en-US" sz="2000" dirty="0">
                <a:latin typeface="Calibri" panose="020F0502020204030204" pitchFamily="34" charset="0"/>
                <a:cs typeface="Arial" panose="020B0604020202020204" pitchFamily="34" charset="0"/>
              </a:rPr>
              <a:t>Knowledge from which conclusions will be drawn that can be applied to populations outside of the specific study population </a:t>
            </a:r>
          </a:p>
          <a:p>
            <a:pPr lvl="1">
              <a:lnSpc>
                <a:spcPct val="90000"/>
              </a:lnSpc>
              <a:buFont typeface="Courier New" panose="02070309020205020404" pitchFamily="49" charset="0"/>
              <a:buChar char="o"/>
            </a:pPr>
            <a:r>
              <a:rPr lang="en-US" sz="2000" dirty="0">
                <a:latin typeface="Calibri" panose="020F0502020204030204" pitchFamily="34" charset="0"/>
                <a:cs typeface="Arial" panose="020B0604020202020204" pitchFamily="34" charset="0"/>
              </a:rPr>
              <a:t>Knowledge that will enhance scientific or academic understanding</a:t>
            </a:r>
            <a:r>
              <a:rPr lang="en-US" sz="2000" dirty="0">
                <a:latin typeface="Calibri" panose="020F0502020204030204" pitchFamily="34" charset="0"/>
              </a:rPr>
              <a:t>.</a:t>
            </a:r>
            <a:endParaRPr lang="en-US" sz="2000" dirty="0">
              <a:latin typeface="Calibri" panose="020F0502020204030204" pitchFamily="34" charset="0"/>
              <a:cs typeface="Arial" panose="020B0604020202020204" pitchFamily="34" charset="0"/>
            </a:endParaRPr>
          </a:p>
        </p:txBody>
      </p:sp>
      <p:sp>
        <p:nvSpPr>
          <p:cNvPr id="816130" name="Rectangle 2"/>
          <p:cNvSpPr>
            <a:spLocks noGrp="1" noChangeArrowheads="1"/>
          </p:cNvSpPr>
          <p:nvPr>
            <p:ph type="title"/>
          </p:nvPr>
        </p:nvSpPr>
        <p:spPr>
          <a:xfrm>
            <a:off x="533400" y="381000"/>
            <a:ext cx="8326438" cy="1219200"/>
          </a:xfrm>
        </p:spPr>
        <p:txBody>
          <a:bodyPr lIns="90488" tIns="44450" rIns="90488" bIns="44450" anchor="b">
            <a:noAutofit/>
          </a:bodyPr>
          <a:lstStyle/>
          <a:p>
            <a:pPr eaLnBrk="1" fontAlgn="auto" hangingPunct="1">
              <a:spcAft>
                <a:spcPts val="0"/>
              </a:spcAft>
              <a:defRPr/>
            </a:pPr>
            <a:br>
              <a:rPr lang="en-US" sz="4200" dirty="0"/>
            </a:br>
            <a:br>
              <a:rPr lang="en-US" sz="4200" dirty="0"/>
            </a:br>
            <a:br>
              <a:rPr lang="en-US" sz="4200" dirty="0"/>
            </a:br>
            <a:r>
              <a:rPr lang="en-US" sz="4200" dirty="0">
                <a:latin typeface="Calibri" panose="020F0502020204030204" pitchFamily="34" charset="0"/>
                <a:cs typeface="Arial" panose="020B0604020202020204" pitchFamily="34" charset="0"/>
              </a:rPr>
              <a:t>What is human subjects research?</a:t>
            </a:r>
            <a:br>
              <a:rPr lang="en-US" sz="4200" dirty="0">
                <a:latin typeface="Calibri" panose="020F0502020204030204" pitchFamily="34" charset="0"/>
                <a:cs typeface="Arial" panose="020B0604020202020204" pitchFamily="34" charset="0"/>
              </a:rPr>
            </a:br>
            <a:r>
              <a:rPr lang="en-US" sz="4200" dirty="0">
                <a:latin typeface="Calibri" panose="020F0502020204030204" pitchFamily="34" charset="0"/>
                <a:cs typeface="Arial" panose="020B0604020202020204" pitchFamily="34" charset="0"/>
              </a:rPr>
              <a:t>Things to consider:</a:t>
            </a:r>
            <a:endParaRPr lang="en-US" sz="4200" dirty="0">
              <a:latin typeface="Calibri" panose="020F0502020204030204" pitchFamily="34" charset="0"/>
            </a:endParaRPr>
          </a:p>
        </p:txBody>
      </p:sp>
    </p:spTree>
    <p:extLst>
      <p:ext uri="{BB962C8B-B14F-4D97-AF65-F5344CB8AC3E}">
        <p14:creationId xmlns:p14="http://schemas.microsoft.com/office/powerpoint/2010/main" val="1581423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61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613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6131">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6131">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61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3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Grp="1" noChangeArrowheads="1"/>
          </p:cNvSpPr>
          <p:nvPr>
            <p:ph type="title"/>
          </p:nvPr>
        </p:nvSpPr>
        <p:spPr>
          <a:xfrm>
            <a:off x="457200" y="274638"/>
            <a:ext cx="8229600" cy="1249362"/>
          </a:xfrm>
        </p:spPr>
        <p:txBody>
          <a:bodyPr>
            <a:normAutofit fontScale="90000"/>
          </a:bodyPr>
          <a:lstStyle/>
          <a:p>
            <a:pPr>
              <a:defRPr/>
            </a:pPr>
            <a:r>
              <a:rPr lang="en-US" dirty="0">
                <a:latin typeface="Calibri" panose="020F0502020204030204" pitchFamily="34" charset="0"/>
                <a:cs typeface="Calibri" panose="020F0502020204030204" pitchFamily="34" charset="0"/>
              </a:rPr>
              <a:t>Does the Research Activity Involve Human Subjects? </a:t>
            </a:r>
          </a:p>
        </p:txBody>
      </p:sp>
      <p:sp>
        <p:nvSpPr>
          <p:cNvPr id="8197" name="Rectangle 5"/>
          <p:cNvSpPr>
            <a:spLocks noGrp="1" noChangeArrowheads="1"/>
          </p:cNvSpPr>
          <p:nvPr>
            <p:ph idx="1"/>
          </p:nvPr>
        </p:nvSpPr>
        <p:spPr>
          <a:xfrm>
            <a:off x="381000" y="1752601"/>
            <a:ext cx="8305800" cy="4648200"/>
          </a:xfrm>
        </p:spPr>
        <p:txBody>
          <a:bodyPr>
            <a:normAutofit/>
          </a:bodyPr>
          <a:lstStyle/>
          <a:p>
            <a:pPr>
              <a:buFont typeface="Wingdings" panose="05000000000000000000" pitchFamily="2" charset="2"/>
              <a:buChar char="Ø"/>
              <a:defRPr/>
            </a:pPr>
            <a:r>
              <a:rPr lang="en-US" sz="2400" dirty="0">
                <a:latin typeface="Calibri" panose="020F0502020204030204" pitchFamily="34" charset="0"/>
                <a:cs typeface="Calibri" panose="020F0502020204030204" pitchFamily="34" charset="0"/>
              </a:rPr>
              <a:t>Human subjects are living individuals about whom an investigator conducting research:</a:t>
            </a:r>
          </a:p>
          <a:p>
            <a:pPr marL="0" indent="0">
              <a:buNone/>
              <a:defRPr/>
            </a:pPr>
            <a:endParaRPr lang="en-US" sz="2400" dirty="0">
              <a:latin typeface="Calibri" panose="020F0502020204030204" pitchFamily="34" charset="0"/>
              <a:cs typeface="Calibri" panose="020F0502020204030204" pitchFamily="34" charset="0"/>
            </a:endParaRPr>
          </a:p>
          <a:p>
            <a:pPr marL="457200" indent="-457200">
              <a:buFont typeface="Wingdings" pitchFamily="2" charset="2"/>
              <a:buAutoNum type="alphaLcPeriod"/>
              <a:defRPr/>
            </a:pPr>
            <a:r>
              <a:rPr lang="en-US" sz="2400" b="1" dirty="0">
                <a:latin typeface="Calibri" panose="020F0502020204030204" pitchFamily="34" charset="0"/>
                <a:cs typeface="Calibri" panose="020F0502020204030204" pitchFamily="34" charset="0"/>
              </a:rPr>
              <a:t>Obtains information </a:t>
            </a:r>
            <a:r>
              <a:rPr lang="en-US" sz="2400" dirty="0">
                <a:latin typeface="Calibri" panose="020F0502020204030204" pitchFamily="34" charset="0"/>
                <a:cs typeface="Calibri" panose="020F0502020204030204" pitchFamily="34" charset="0"/>
              </a:rPr>
              <a:t>through intervention or interaction with the individual,</a:t>
            </a:r>
            <a:r>
              <a:rPr lang="en-US" sz="2400" b="1" dirty="0">
                <a:latin typeface="Calibri" panose="020F0502020204030204" pitchFamily="34" charset="0"/>
                <a:cs typeface="Calibri" panose="020F0502020204030204" pitchFamily="34" charset="0"/>
              </a:rPr>
              <a:t> and uses, studies, or analyzes the information.</a:t>
            </a:r>
          </a:p>
          <a:p>
            <a:pPr marL="457200" indent="-457200">
              <a:buFont typeface="Wingdings" pitchFamily="2" charset="2"/>
              <a:buAutoNum type="alphaLcPeriod"/>
              <a:defRPr/>
            </a:pPr>
            <a:endParaRPr lang="en-US" sz="2400" b="1" dirty="0">
              <a:latin typeface="Calibri" panose="020F0502020204030204" pitchFamily="34" charset="0"/>
              <a:cs typeface="Calibri" panose="020F0502020204030204" pitchFamily="34" charset="0"/>
            </a:endParaRPr>
          </a:p>
          <a:p>
            <a:pPr marL="457200" indent="-457200">
              <a:buFont typeface="Wingdings" pitchFamily="2" charset="2"/>
              <a:buAutoNum type="alphaLcPeriod"/>
              <a:defRPr/>
            </a:pPr>
            <a:r>
              <a:rPr lang="en-US" sz="2400" b="1" dirty="0">
                <a:latin typeface="Calibri" panose="020F0502020204030204" pitchFamily="34" charset="0"/>
                <a:cs typeface="Calibri" panose="020F0502020204030204" pitchFamily="34" charset="0"/>
              </a:rPr>
              <a:t>Obtains, uses, studies, analyzes, or generates</a:t>
            </a:r>
            <a:r>
              <a:rPr lang="en-US" sz="2400" dirty="0">
                <a:latin typeface="Calibri" panose="020F0502020204030204" pitchFamily="34" charset="0"/>
                <a:cs typeface="Calibri" panose="020F0502020204030204" pitchFamily="34" charset="0"/>
              </a:rPr>
              <a:t> identifiable</a:t>
            </a:r>
          </a:p>
          <a:p>
            <a:pPr marL="0" indent="0">
              <a:buNone/>
              <a:defRPr/>
            </a:pPr>
            <a:r>
              <a:rPr lang="en-US" sz="2400" dirty="0">
                <a:latin typeface="Calibri" panose="020F0502020204030204" pitchFamily="34" charset="0"/>
                <a:cs typeface="Calibri" panose="020F0502020204030204" pitchFamily="34" charset="0"/>
              </a:rPr>
              <a:t>       private information</a:t>
            </a:r>
            <a:r>
              <a:rPr lang="en-US" sz="2400" b="1" dirty="0">
                <a:latin typeface="Calibri" panose="020F0502020204030204" pitchFamily="34" charset="0"/>
                <a:cs typeface="Calibri" panose="020F0502020204030204" pitchFamily="34" charset="0"/>
              </a:rPr>
              <a:t> .</a:t>
            </a:r>
            <a:endParaRPr lang="en-US" sz="2400" dirty="0">
              <a:latin typeface="Calibri" panose="020F0502020204030204" pitchFamily="34" charset="0"/>
              <a:cs typeface="Calibri" panose="020F0502020204030204" pitchFamily="34" charset="0"/>
            </a:endParaRPr>
          </a:p>
          <a:p>
            <a:pPr marL="0" indent="0">
              <a:buNone/>
              <a:defRPr/>
            </a:pPr>
            <a:endParaRPr lang="en-US" sz="2400" b="1" dirty="0">
              <a:latin typeface="Calibri" panose="020F0502020204030204" pitchFamily="34" charset="0"/>
              <a:cs typeface="Calibri" panose="020F0502020204030204" pitchFamily="34" charset="0"/>
            </a:endParaRPr>
          </a:p>
          <a:p>
            <a:pPr marL="0" indent="0">
              <a:buNone/>
              <a:defRPr/>
            </a:pPr>
            <a:endParaRPr lang="en-US" sz="24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190329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750"/>
                                  </p:stCondLst>
                                  <p:childTnLst>
                                    <p:set>
                                      <p:cBhvr>
                                        <p:cTn id="6" dur="1" fill="hold">
                                          <p:stCondLst>
                                            <p:cond delay="1999"/>
                                          </p:stCondLst>
                                        </p:cTn>
                                        <p:tgtEl>
                                          <p:spTgt spid="819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Applying</a:t>
            </a:r>
            <a:r>
              <a:rPr lang="en-US" dirty="0"/>
              <a:t> Ethical Principles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511047822"/>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890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3000"/>
                                  </p:stCondLst>
                                  <p:childTnLst>
                                    <p:set>
                                      <p:cBhvr>
                                        <p:cTn id="6" dur="1" fill="hold">
                                          <p:stCondLst>
                                            <p:cond delay="0"/>
                                          </p:stCondLst>
                                        </p:cTn>
                                        <p:tgtEl>
                                          <p:spTgt spid="6">
                                            <p:graphicEl>
                                              <a:dgm id="{7E429971-BC57-430F-BB25-C0574E5E39E3}"/>
                                            </p:graphicEl>
                                          </p:spTgt>
                                        </p:tgtEl>
                                        <p:attrNameLst>
                                          <p:attrName>style.visibility</p:attrName>
                                        </p:attrNameLst>
                                      </p:cBhvr>
                                      <p:to>
                                        <p:strVal val="visible"/>
                                      </p:to>
                                    </p:set>
                                    <p:animEffect transition="in" filter="randombar(horizontal)">
                                      <p:cBhvr>
                                        <p:cTn id="7" dur="500"/>
                                        <p:tgtEl>
                                          <p:spTgt spid="6">
                                            <p:graphicEl>
                                              <a:dgm id="{7E429971-BC57-430F-BB25-C0574E5E39E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3000"/>
                                  </p:stCondLst>
                                  <p:childTnLst>
                                    <p:set>
                                      <p:cBhvr>
                                        <p:cTn id="11" dur="1" fill="hold">
                                          <p:stCondLst>
                                            <p:cond delay="0"/>
                                          </p:stCondLst>
                                        </p:cTn>
                                        <p:tgtEl>
                                          <p:spTgt spid="6">
                                            <p:graphicEl>
                                              <a:dgm id="{D54B1729-BC98-42C1-9C6C-D65DCBA4358F}"/>
                                            </p:graphicEl>
                                          </p:spTgt>
                                        </p:tgtEl>
                                        <p:attrNameLst>
                                          <p:attrName>style.visibility</p:attrName>
                                        </p:attrNameLst>
                                      </p:cBhvr>
                                      <p:to>
                                        <p:strVal val="visible"/>
                                      </p:to>
                                    </p:set>
                                    <p:animEffect transition="in" filter="randombar(horizontal)">
                                      <p:cBhvr>
                                        <p:cTn id="12" dur="500"/>
                                        <p:tgtEl>
                                          <p:spTgt spid="6">
                                            <p:graphicEl>
                                              <a:dgm id="{D54B1729-BC98-42C1-9C6C-D65DCBA4358F}"/>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3000"/>
                                  </p:stCondLst>
                                  <p:childTnLst>
                                    <p:set>
                                      <p:cBhvr>
                                        <p:cTn id="16" dur="1" fill="hold">
                                          <p:stCondLst>
                                            <p:cond delay="0"/>
                                          </p:stCondLst>
                                        </p:cTn>
                                        <p:tgtEl>
                                          <p:spTgt spid="6">
                                            <p:graphicEl>
                                              <a:dgm id="{C04276DC-EE64-470A-B8BC-09067B8045FA}"/>
                                            </p:graphicEl>
                                          </p:spTgt>
                                        </p:tgtEl>
                                        <p:attrNameLst>
                                          <p:attrName>style.visibility</p:attrName>
                                        </p:attrNameLst>
                                      </p:cBhvr>
                                      <p:to>
                                        <p:strVal val="visible"/>
                                      </p:to>
                                    </p:set>
                                    <p:animEffect transition="in" filter="randombar(horizontal)">
                                      <p:cBhvr>
                                        <p:cTn id="17" dur="500"/>
                                        <p:tgtEl>
                                          <p:spTgt spid="6">
                                            <p:graphicEl>
                                              <a:dgm id="{C04276DC-EE64-470A-B8BC-09067B8045FA}"/>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3500"/>
                                  </p:stCondLst>
                                  <p:childTnLst>
                                    <p:set>
                                      <p:cBhvr>
                                        <p:cTn id="21" dur="1" fill="hold">
                                          <p:stCondLst>
                                            <p:cond delay="0"/>
                                          </p:stCondLst>
                                        </p:cTn>
                                        <p:tgtEl>
                                          <p:spTgt spid="6">
                                            <p:graphicEl>
                                              <a:dgm id="{B37A5355-225B-4C6F-AED7-6C620F99EECC}"/>
                                            </p:graphicEl>
                                          </p:spTgt>
                                        </p:tgtEl>
                                        <p:attrNameLst>
                                          <p:attrName>style.visibility</p:attrName>
                                        </p:attrNameLst>
                                      </p:cBhvr>
                                      <p:to>
                                        <p:strVal val="visible"/>
                                      </p:to>
                                    </p:set>
                                    <p:animEffect transition="in" filter="randombar(horizontal)">
                                      <p:cBhvr>
                                        <p:cTn id="22" dur="2000"/>
                                        <p:tgtEl>
                                          <p:spTgt spid="6">
                                            <p:graphicEl>
                                              <a:dgm id="{B37A5355-225B-4C6F-AED7-6C620F99EECC}"/>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3000"/>
                                  </p:stCondLst>
                                  <p:childTnLst>
                                    <p:set>
                                      <p:cBhvr>
                                        <p:cTn id="26" dur="1" fill="hold">
                                          <p:stCondLst>
                                            <p:cond delay="0"/>
                                          </p:stCondLst>
                                        </p:cTn>
                                        <p:tgtEl>
                                          <p:spTgt spid="6">
                                            <p:graphicEl>
                                              <a:dgm id="{F5034101-5B7D-4FE7-B47A-5A48CF39606B}"/>
                                            </p:graphicEl>
                                          </p:spTgt>
                                        </p:tgtEl>
                                        <p:attrNameLst>
                                          <p:attrName>style.visibility</p:attrName>
                                        </p:attrNameLst>
                                      </p:cBhvr>
                                      <p:to>
                                        <p:strVal val="visible"/>
                                      </p:to>
                                    </p:set>
                                    <p:animEffect transition="in" filter="randombar(horizontal)">
                                      <p:cBhvr>
                                        <p:cTn id="27" dur="1000"/>
                                        <p:tgtEl>
                                          <p:spTgt spid="6">
                                            <p:graphicEl>
                                              <a:dgm id="{F5034101-5B7D-4FE7-B47A-5A48CF39606B}"/>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3000"/>
                                  </p:stCondLst>
                                  <p:childTnLst>
                                    <p:set>
                                      <p:cBhvr>
                                        <p:cTn id="31" dur="1" fill="hold">
                                          <p:stCondLst>
                                            <p:cond delay="0"/>
                                          </p:stCondLst>
                                        </p:cTn>
                                        <p:tgtEl>
                                          <p:spTgt spid="6">
                                            <p:graphicEl>
                                              <a:dgm id="{C7C3E6FD-D83F-4BDA-907E-B5EE041DA931}"/>
                                            </p:graphicEl>
                                          </p:spTgt>
                                        </p:tgtEl>
                                        <p:attrNameLst>
                                          <p:attrName>style.visibility</p:attrName>
                                        </p:attrNameLst>
                                      </p:cBhvr>
                                      <p:to>
                                        <p:strVal val="visible"/>
                                      </p:to>
                                    </p:set>
                                    <p:animEffect transition="in" filter="randombar(horizontal)">
                                      <p:cBhvr>
                                        <p:cTn id="32" dur="2000"/>
                                        <p:tgtEl>
                                          <p:spTgt spid="6">
                                            <p:graphicEl>
                                              <a:dgm id="{C7C3E6FD-D83F-4BDA-907E-B5EE041DA93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3B945-DE87-3828-57C7-3232A8E71E44}"/>
              </a:ext>
            </a:extLst>
          </p:cNvPr>
          <p:cNvSpPr>
            <a:spLocks noGrp="1"/>
          </p:cNvSpPr>
          <p:nvPr>
            <p:ph type="title"/>
          </p:nvPr>
        </p:nvSpPr>
        <p:spPr/>
        <p:txBody>
          <a:bodyPr/>
          <a:lstStyle/>
          <a:p>
            <a:r>
              <a:rPr lang="en-US" dirty="0"/>
              <a:t>Levels of IRB Review </a:t>
            </a:r>
          </a:p>
        </p:txBody>
      </p:sp>
      <p:sp>
        <p:nvSpPr>
          <p:cNvPr id="3" name="Content Placeholder 2">
            <a:extLst>
              <a:ext uri="{FF2B5EF4-FFF2-40B4-BE49-F238E27FC236}">
                <a16:creationId xmlns:a16="http://schemas.microsoft.com/office/drawing/2014/main" id="{36624F02-FB81-920C-BB38-0A9AB178E4DC}"/>
              </a:ext>
            </a:extLst>
          </p:cNvPr>
          <p:cNvSpPr>
            <a:spLocks noGrp="1"/>
          </p:cNvSpPr>
          <p:nvPr>
            <p:ph idx="1"/>
          </p:nvPr>
        </p:nvSpPr>
        <p:spPr/>
        <p:txBody>
          <a:bodyPr/>
          <a:lstStyle/>
          <a:p>
            <a:r>
              <a:rPr lang="en-US" sz="2000" dirty="0">
                <a:solidFill>
                  <a:srgbClr val="0070C0"/>
                </a:solidFill>
              </a:rPr>
              <a:t>Exempt: </a:t>
            </a:r>
            <a:r>
              <a:rPr lang="en-US" sz="2000" dirty="0"/>
              <a:t>Very low risk. Columbia requires that even the lowest risk human subjects research be reviewed. Review by HRPO staff.</a:t>
            </a:r>
          </a:p>
          <a:p>
            <a:r>
              <a:rPr lang="en-US" sz="2000" dirty="0">
                <a:solidFill>
                  <a:srgbClr val="0070C0"/>
                </a:solidFill>
              </a:rPr>
              <a:t>Limited IRB Review: </a:t>
            </a:r>
            <a:r>
              <a:rPr lang="en-US" sz="2000" dirty="0"/>
              <a:t>Exempt research that involves the collection of sensitive data. IRB must ensure that provisions are in place to protect the confidentiality of data/privacy of persons. Review by a single member of the IRB committee.</a:t>
            </a:r>
          </a:p>
          <a:p>
            <a:r>
              <a:rPr lang="en-US" sz="2000" dirty="0">
                <a:solidFill>
                  <a:srgbClr val="0070C0"/>
                </a:solidFill>
              </a:rPr>
              <a:t>Expedited: </a:t>
            </a:r>
            <a:r>
              <a:rPr lang="en-US" sz="2000" dirty="0"/>
              <a:t>Low risk research. Can involve some risk as long as appropriate protections are in place to protect subjects and their data. Review by a single member of the IRB committee.</a:t>
            </a:r>
          </a:p>
          <a:p>
            <a:r>
              <a:rPr lang="en-US" sz="2000" dirty="0">
                <a:solidFill>
                  <a:srgbClr val="0070C0"/>
                </a:solidFill>
              </a:rPr>
              <a:t>Full Board: </a:t>
            </a:r>
            <a:r>
              <a:rPr lang="en-US" sz="2000" dirty="0"/>
              <a:t>Research that may involve significant risk. Review by the full IRB committee required. </a:t>
            </a:r>
          </a:p>
          <a:p>
            <a:endParaRPr lang="en-US" dirty="0"/>
          </a:p>
        </p:txBody>
      </p:sp>
    </p:spTree>
    <p:extLst>
      <p:ext uri="{BB962C8B-B14F-4D97-AF65-F5344CB8AC3E}">
        <p14:creationId xmlns:p14="http://schemas.microsoft.com/office/powerpoint/2010/main" val="3356870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4"/>
          <p:cNvSpPr txBox="1">
            <a:spLocks noGrp="1"/>
          </p:cNvSpPr>
          <p:nvPr/>
        </p:nvSpPr>
        <p:spPr bwMode="auto">
          <a:xfrm>
            <a:off x="6553200" y="6245225"/>
            <a:ext cx="2133600" cy="476250"/>
          </a:xfrm>
          <a:prstGeom prst="rect">
            <a:avLst/>
          </a:prstGeom>
          <a:noFill/>
          <a:ln>
            <a:miter lim="800000"/>
            <a:headEnd/>
            <a:tailEnd/>
          </a:ln>
        </p:spPr>
        <p:txBody>
          <a:bodyPr/>
          <a:lstStyle/>
          <a:p>
            <a:pPr algn="r">
              <a:defRPr/>
            </a:pPr>
            <a:fld id="{22C19A37-BB67-440D-AA0B-AF04B15CB58D}" type="slidenum">
              <a:rPr lang="en-US" sz="1400">
                <a:solidFill>
                  <a:srgbClr val="003067"/>
                </a:solidFill>
                <a:cs typeface="+mn-cs"/>
              </a:rPr>
              <a:pPr algn="r">
                <a:defRPr/>
              </a:pPr>
              <a:t>8</a:t>
            </a:fld>
            <a:endParaRPr lang="en-US" sz="1400" dirty="0">
              <a:solidFill>
                <a:srgbClr val="003067"/>
              </a:solidFill>
              <a:cs typeface="+mn-cs"/>
            </a:endParaRPr>
          </a:p>
        </p:txBody>
      </p:sp>
      <p:sp>
        <p:nvSpPr>
          <p:cNvPr id="15363" name="Rectangle 2"/>
          <p:cNvSpPr>
            <a:spLocks noGrp="1" noChangeArrowheads="1"/>
          </p:cNvSpPr>
          <p:nvPr>
            <p:ph type="title"/>
          </p:nvPr>
        </p:nvSpPr>
        <p:spPr/>
        <p:txBody>
          <a:bodyPr/>
          <a:lstStyle/>
          <a:p>
            <a:pPr eaLnBrk="1" hangingPunct="1"/>
            <a:r>
              <a:rPr lang="en-US" altLang="en-US" dirty="0">
                <a:latin typeface="Arial" panose="020B0604020202020204" pitchFamily="34" charset="0"/>
                <a:cs typeface="Arial" panose="020B0604020202020204" pitchFamily="34" charset="0"/>
              </a:rPr>
              <a:t>Principal Investigator</a:t>
            </a:r>
          </a:p>
        </p:txBody>
      </p:sp>
      <p:sp>
        <p:nvSpPr>
          <p:cNvPr id="15364" name="Rectangle 3"/>
          <p:cNvSpPr>
            <a:spLocks noGrp="1" noChangeArrowheads="1"/>
          </p:cNvSpPr>
          <p:nvPr>
            <p:ph type="body" idx="1"/>
          </p:nvPr>
        </p:nvSpPr>
        <p:spPr>
          <a:xfrm>
            <a:off x="457200" y="1600200"/>
            <a:ext cx="8153400" cy="4191000"/>
          </a:xfrm>
        </p:spPr>
        <p:txBody>
          <a:bodyPr/>
          <a:lstStyle/>
          <a:p>
            <a:pPr eaLnBrk="1" hangingPunct="1">
              <a:lnSpc>
                <a:spcPct val="90000"/>
              </a:lnSpc>
              <a:spcAft>
                <a:spcPts val="600"/>
              </a:spcAft>
            </a:pPr>
            <a:r>
              <a:rPr lang="en-US" altLang="en-US" sz="2400" dirty="0">
                <a:latin typeface="Arial" panose="020B0604020202020204" pitchFamily="34" charset="0"/>
                <a:cs typeface="Arial" panose="020B0604020202020204" pitchFamily="34" charset="0"/>
              </a:rPr>
              <a:t>The Principal Investigator  (PI) must be a full time member of the Faculty in the rank of Professor, Associate Professor,  Assistant Professor or Research Scientist. (Faculty Handbook: </a:t>
            </a:r>
            <a:r>
              <a:rPr lang="en-US" altLang="en-US" sz="2400" b="1" dirty="0">
                <a:latin typeface="Arial" panose="020B0604020202020204" pitchFamily="34" charset="0"/>
                <a:cs typeface="Arial" panose="020B0604020202020204" pitchFamily="34" charset="0"/>
                <a:hlinkClick r:id="rId3"/>
              </a:rPr>
              <a:t>http://www.columbia.edu/cu/vpaa/fhb/</a:t>
            </a:r>
            <a:r>
              <a:rPr lang="en-US" altLang="en-US" sz="2400" b="1" dirty="0">
                <a:latin typeface="Arial" panose="020B0604020202020204" pitchFamily="34" charset="0"/>
                <a:cs typeface="Arial" panose="020B0604020202020204" pitchFamily="34" charset="0"/>
              </a:rPr>
              <a:t>). </a:t>
            </a:r>
            <a:r>
              <a:rPr lang="en-US" altLang="en-US" sz="2400" dirty="0">
                <a:latin typeface="Arial" panose="020B0604020202020204" pitchFamily="34" charset="0"/>
                <a:cs typeface="Arial" panose="020B0604020202020204" pitchFamily="34" charset="0"/>
              </a:rPr>
              <a:t>The PI is responsible for the administrative and scientific management of the protocol.</a:t>
            </a:r>
          </a:p>
          <a:p>
            <a:pPr eaLnBrk="1" hangingPunct="1">
              <a:lnSpc>
                <a:spcPct val="90000"/>
              </a:lnSpc>
              <a:spcAft>
                <a:spcPts val="600"/>
              </a:spcAft>
            </a:pPr>
            <a:r>
              <a:rPr lang="en-US" altLang="en-US" sz="2400" dirty="0">
                <a:latin typeface="Arial" panose="020B0604020202020204" pitchFamily="34" charset="0"/>
                <a:cs typeface="Arial" panose="020B0604020202020204" pitchFamily="34" charset="0"/>
              </a:rPr>
              <a:t>For student research the Faculty Advisor or another qualified individual should be listed as PI on the student’s IRB application.</a:t>
            </a:r>
          </a:p>
          <a:p>
            <a:pPr eaLnBrk="1" hangingPunct="1">
              <a:lnSpc>
                <a:spcPct val="90000"/>
              </a:lnSpc>
              <a:spcAft>
                <a:spcPts val="600"/>
              </a:spcAft>
            </a:pPr>
            <a:r>
              <a:rPr lang="en-US" altLang="en-US" sz="2400" dirty="0">
                <a:latin typeface="Arial" panose="020B0604020202020204" pitchFamily="34" charset="0"/>
                <a:cs typeface="Arial" panose="020B0604020202020204" pitchFamily="34" charset="0"/>
              </a:rPr>
              <a:t>Students should be listed as Investigators. </a:t>
            </a:r>
          </a:p>
        </p:txBody>
      </p:sp>
      <p:sp>
        <p:nvSpPr>
          <p:cNvPr id="6" name="Slide Number Placeholder 5"/>
          <p:cNvSpPr>
            <a:spLocks noGrp="1"/>
          </p:cNvSpPr>
          <p:nvPr>
            <p:ph type="sldNum" sz="quarter" idx="11"/>
          </p:nvPr>
        </p:nvSpPr>
        <p:spPr/>
        <p:txBody>
          <a:bodyPr/>
          <a:lstStyle/>
          <a:p>
            <a:pPr>
              <a:defRPr/>
            </a:pPr>
            <a:fld id="{288FD68F-9377-4DFB-B143-702FE192B385}" type="slidenum">
              <a:rPr lang="en-US" smtClean="0"/>
              <a:pPr>
                <a:defRPr/>
              </a:pPr>
              <a:t>8</a:t>
            </a:fld>
            <a:endParaRPr lang="en-US" dirty="0"/>
          </a:p>
        </p:txBody>
      </p:sp>
    </p:spTree>
    <p:extLst>
      <p:ext uri="{BB962C8B-B14F-4D97-AF65-F5344CB8AC3E}">
        <p14:creationId xmlns:p14="http://schemas.microsoft.com/office/powerpoint/2010/main" val="3061193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Arial" panose="020B0604020202020204" pitchFamily="34" charset="0"/>
                <a:cs typeface="Arial" panose="020B0604020202020204" pitchFamily="34" charset="0"/>
              </a:rPr>
              <a:t>Additional Documentation</a:t>
            </a:r>
          </a:p>
        </p:txBody>
      </p:sp>
      <p:sp>
        <p:nvSpPr>
          <p:cNvPr id="3" name="Content Placeholder 2"/>
          <p:cNvSpPr>
            <a:spLocks noGrp="1"/>
          </p:cNvSpPr>
          <p:nvPr>
            <p:ph idx="1"/>
          </p:nvPr>
        </p:nvSpPr>
        <p:spPr>
          <a:xfrm>
            <a:off x="457200" y="1295400"/>
            <a:ext cx="8229600" cy="4830763"/>
          </a:xfrm>
        </p:spPr>
        <p:txBody>
          <a:bodyPr/>
          <a:lstStyle/>
          <a:p>
            <a:pPr marL="0" indent="0">
              <a:buNone/>
            </a:pPr>
            <a:r>
              <a:rPr lang="en-US" sz="2400" dirty="0">
                <a:latin typeface="Arial" panose="020B0604020202020204" pitchFamily="34" charset="0"/>
                <a:cs typeface="Arial" panose="020B0604020202020204" pitchFamily="34" charset="0"/>
              </a:rPr>
              <a:t>Additional documentation for research conducted at off campus or international  locations is generally required</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solidFill>
                  <a:schemeClr val="accent5">
                    <a:lumMod val="50000"/>
                  </a:schemeClr>
                </a:solidFill>
                <a:latin typeface="Arial" panose="020B0604020202020204" pitchFamily="34" charset="0"/>
                <a:cs typeface="Arial" panose="020B0604020202020204" pitchFamily="34" charset="0"/>
              </a:rPr>
              <a:t>Examples</a:t>
            </a:r>
          </a:p>
          <a:p>
            <a:r>
              <a:rPr lang="en-US" sz="2000" dirty="0">
                <a:latin typeface="Arial" panose="020B0604020202020204" pitchFamily="34" charset="0"/>
                <a:cs typeface="Arial" panose="020B0604020202020204" pitchFamily="34" charset="0"/>
              </a:rPr>
              <a:t>Some sites where research occurs have their own IRBs and may require internal IRB review</a:t>
            </a:r>
          </a:p>
          <a:p>
            <a:pPr lvl="1">
              <a:buFont typeface="Wingdings" panose="05000000000000000000" pitchFamily="2" charset="2"/>
              <a:buChar char="ü"/>
            </a:pPr>
            <a:r>
              <a:rPr lang="en-US" sz="2000" dirty="0">
                <a:latin typeface="Arial" panose="020B0604020202020204" pitchFamily="34" charset="0"/>
                <a:cs typeface="Arial" panose="020B0604020202020204" pitchFamily="34" charset="0"/>
              </a:rPr>
              <a:t>The NYC Department of Education (DOE) requires DOE IRB approval before research may be conducted in NYC public schools. In addition, documentation of permission to conduct the research in each school where it will occur is required from the head of the school.</a:t>
            </a:r>
          </a:p>
          <a:p>
            <a:r>
              <a:rPr lang="en-US" sz="2000" dirty="0">
                <a:latin typeface="Arial" panose="020B0604020202020204" pitchFamily="34" charset="0"/>
                <a:cs typeface="Arial" panose="020B0604020202020204" pitchFamily="34" charset="0"/>
              </a:rPr>
              <a:t>If  there is no IRB at a site, documentation of permission to conduct research at the site may be required</a:t>
            </a:r>
          </a:p>
        </p:txBody>
      </p:sp>
    </p:spTree>
    <p:extLst>
      <p:ext uri="{BB962C8B-B14F-4D97-AF65-F5344CB8AC3E}">
        <p14:creationId xmlns:p14="http://schemas.microsoft.com/office/powerpoint/2010/main" val="1568825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49362"/>
          </a:xfrm>
        </p:spPr>
        <p:txBody>
          <a:bodyPr/>
          <a:lstStyle/>
          <a:p>
            <a:pPr marL="0" indent="0"/>
            <a:r>
              <a:rPr lang="en-US" sz="3200" dirty="0">
                <a:latin typeface="Arial" panose="020B0604020202020204" pitchFamily="34" charset="0"/>
                <a:cs typeface="Arial" panose="020B0604020202020204" pitchFamily="34" charset="0"/>
              </a:rPr>
              <a:t>Additional Documentation (cont’d)</a:t>
            </a:r>
            <a:br>
              <a:rPr lang="en-US" sz="2400" dirty="0">
                <a:solidFill>
                  <a:schemeClr val="tx1"/>
                </a:solidFill>
              </a:rPr>
            </a:br>
            <a:br>
              <a:rPr lang="en-US" sz="2000" dirty="0">
                <a:solidFill>
                  <a:schemeClr val="tx1"/>
                </a:solidFill>
              </a:rPr>
            </a:br>
            <a:br>
              <a:rPr lang="en-US" sz="2400" dirty="0">
                <a:solidFill>
                  <a:schemeClr val="tx1"/>
                </a:solidFill>
              </a:rPr>
            </a:br>
            <a:endParaRPr lang="en-US" sz="2400" dirty="0">
              <a:solidFill>
                <a:schemeClr val="tx1"/>
              </a:solidFill>
            </a:endParaRPr>
          </a:p>
        </p:txBody>
      </p:sp>
      <p:sp>
        <p:nvSpPr>
          <p:cNvPr id="3" name="Content Placeholder 2"/>
          <p:cNvSpPr>
            <a:spLocks noGrp="1"/>
          </p:cNvSpPr>
          <p:nvPr>
            <p:ph idx="1"/>
          </p:nvPr>
        </p:nvSpPr>
        <p:spPr>
          <a:xfrm>
            <a:off x="381000" y="1066800"/>
            <a:ext cx="8305800" cy="5059363"/>
          </a:xfrm>
        </p:spPr>
        <p:txBody>
          <a:bodyPr/>
          <a:lstStyle/>
          <a:p>
            <a:pPr marL="0" indent="0">
              <a:buNone/>
            </a:pPr>
            <a:r>
              <a:rPr lang="en-US" dirty="0">
                <a:solidFill>
                  <a:schemeClr val="accent5">
                    <a:lumMod val="50000"/>
                  </a:schemeClr>
                </a:solidFill>
                <a:latin typeface="Arial" panose="020B0604020202020204" pitchFamily="34" charset="0"/>
                <a:cs typeface="Arial" panose="020B0604020202020204" pitchFamily="34" charset="0"/>
              </a:rPr>
              <a:t>International research</a:t>
            </a:r>
            <a:endParaRPr lang="en-US" dirty="0">
              <a:solidFill>
                <a:schemeClr val="accent1">
                  <a:lumMod val="75000"/>
                </a:schemeClr>
              </a:solidFill>
              <a:latin typeface="Arial" panose="020B0604020202020204" pitchFamily="34" charset="0"/>
              <a:cs typeface="Arial" panose="020B0604020202020204" pitchFamily="34" charset="0"/>
            </a:endParaRPr>
          </a:p>
          <a:p>
            <a:pPr lvl="0"/>
            <a:r>
              <a:rPr lang="en-US" sz="2000" dirty="0">
                <a:latin typeface="Arial" panose="020B0604020202020204" pitchFamily="34" charset="0"/>
                <a:cs typeface="Arial" panose="020B0604020202020204" pitchFamily="34" charset="0"/>
              </a:rPr>
              <a:t>Local IRB/ethics board approval or local permissions approval may be required</a:t>
            </a:r>
          </a:p>
          <a:p>
            <a:pPr lvl="0"/>
            <a:r>
              <a:rPr lang="en-US" sz="2000" dirty="0">
                <a:latin typeface="Arial" panose="020B0604020202020204" pitchFamily="34" charset="0"/>
                <a:cs typeface="Arial" panose="020B0604020202020204" pitchFamily="34" charset="0"/>
              </a:rPr>
              <a:t>Local context information is needed if no in-country ethics review </a:t>
            </a:r>
          </a:p>
          <a:p>
            <a:pPr lvl="0"/>
            <a:r>
              <a:rPr lang="en-US" sz="2000" dirty="0">
                <a:latin typeface="Arial" panose="020B0604020202020204" pitchFamily="34" charset="0"/>
                <a:cs typeface="Arial" panose="020B0604020202020204" pitchFamily="34" charset="0"/>
              </a:rPr>
              <a:t>Translations are required if subjects are non-English speaking (provide after English versions approved)</a:t>
            </a:r>
          </a:p>
          <a:p>
            <a:pPr lvl="0"/>
            <a:r>
              <a:rPr lang="en-US" sz="2000" dirty="0">
                <a:latin typeface="Arial" panose="020B0604020202020204" pitchFamily="34" charset="0"/>
                <a:cs typeface="Arial" panose="020B0604020202020204" pitchFamily="34" charset="0"/>
              </a:rPr>
              <a:t>Qualifications/experience of researcher</a:t>
            </a:r>
          </a:p>
          <a:p>
            <a:pPr lvl="0"/>
            <a:r>
              <a:rPr lang="en-US" sz="2000" dirty="0">
                <a:latin typeface="Arial" panose="020B0604020202020204" pitchFamily="34" charset="0"/>
                <a:cs typeface="Arial" panose="020B0604020202020204" pitchFamily="34" charset="0"/>
              </a:rPr>
              <a:t>General Data Protection Regulation of the European Union</a:t>
            </a:r>
          </a:p>
          <a:p>
            <a:pPr lvl="0"/>
            <a:r>
              <a:rPr lang="en-US" sz="2000" dirty="0">
                <a:solidFill>
                  <a:srgbClr val="FF0000"/>
                </a:solidFill>
                <a:latin typeface="Arial" panose="020B0604020202020204" pitchFamily="34" charset="0"/>
                <a:cs typeface="Arial" panose="020B0604020202020204" pitchFamily="34" charset="0"/>
              </a:rPr>
              <a:t>China: </a:t>
            </a:r>
            <a:r>
              <a:rPr lang="en-US" sz="2000" dirty="0">
                <a:latin typeface="Arial" panose="020B0604020202020204" pitchFamily="34" charset="0"/>
                <a:cs typeface="Arial" panose="020B0604020202020204" pitchFamily="34" charset="0"/>
              </a:rPr>
              <a:t>It is strongly recommended that PIs/students not propose projects that involve use of social media or other online activities in China at this time due to strict requirements and potential significant fines for violations. Any study that involves social media or online activities in China  will need to be referred to the Office of General Counsel, which will slow review down significantly. </a:t>
            </a:r>
          </a:p>
          <a:p>
            <a:pPr marL="0" indent="0">
              <a:buNone/>
            </a:pPr>
            <a:endParaRPr lang="en-US" dirty="0"/>
          </a:p>
        </p:txBody>
      </p:sp>
    </p:spTree>
    <p:extLst>
      <p:ext uri="{BB962C8B-B14F-4D97-AF65-F5344CB8AC3E}">
        <p14:creationId xmlns:p14="http://schemas.microsoft.com/office/powerpoint/2010/main" val="518629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Slide Number Placeholder 4"/>
          <p:cNvSpPr txBox="1">
            <a:spLocks noGrp="1"/>
          </p:cNvSpPr>
          <p:nvPr/>
        </p:nvSpPr>
        <p:spPr bwMode="auto">
          <a:xfrm>
            <a:off x="6553200" y="6245225"/>
            <a:ext cx="2133600" cy="476250"/>
          </a:xfrm>
          <a:prstGeom prst="rect">
            <a:avLst/>
          </a:prstGeom>
          <a:noFill/>
          <a:ln>
            <a:miter lim="800000"/>
            <a:headEnd/>
            <a:tailEnd/>
          </a:ln>
        </p:spPr>
        <p:txBody>
          <a:bodyPr/>
          <a:lstStyle/>
          <a:p>
            <a:pPr algn="r">
              <a:defRPr/>
            </a:pPr>
            <a:fld id="{6DB0D64F-5A3B-4DB1-A39F-23270D86B901}" type="slidenum">
              <a:rPr lang="en-US" sz="1400">
                <a:solidFill>
                  <a:srgbClr val="003067"/>
                </a:solidFill>
                <a:cs typeface="+mn-cs"/>
              </a:rPr>
              <a:pPr algn="r">
                <a:defRPr/>
              </a:pPr>
              <a:t>11</a:t>
            </a:fld>
            <a:endParaRPr lang="en-US" sz="1400" dirty="0">
              <a:solidFill>
                <a:srgbClr val="003067"/>
              </a:solidFill>
              <a:cs typeface="+mn-cs"/>
            </a:endParaRPr>
          </a:p>
        </p:txBody>
      </p:sp>
      <p:sp>
        <p:nvSpPr>
          <p:cNvPr id="21507" name="Rectangle 2"/>
          <p:cNvSpPr>
            <a:spLocks noGrp="1" noChangeArrowheads="1"/>
          </p:cNvSpPr>
          <p:nvPr>
            <p:ph type="title"/>
          </p:nvPr>
        </p:nvSpPr>
        <p:spPr>
          <a:xfrm>
            <a:off x="457200" y="274638"/>
            <a:ext cx="8229600" cy="2392362"/>
          </a:xfrm>
        </p:spPr>
        <p:txBody>
          <a:bodyPr/>
          <a:lstStyle/>
          <a:p>
            <a:pPr eaLnBrk="1" hangingPunct="1">
              <a:defRPr/>
            </a:pPr>
            <a:br>
              <a:rPr lang="en-US" altLang="en-US" sz="3200" dirty="0"/>
            </a:br>
            <a:br>
              <a:rPr lang="en-US" altLang="en-US" sz="3200" dirty="0"/>
            </a:br>
            <a:r>
              <a:rPr lang="en-US" altLang="en-US" sz="3200" b="1" dirty="0">
                <a:latin typeface="Arial" panose="020B0604020202020204" pitchFamily="34" charset="0"/>
                <a:cs typeface="Arial" panose="020B0604020202020204" pitchFamily="34" charset="0"/>
              </a:rPr>
              <a:t>Rascal</a:t>
            </a:r>
            <a:r>
              <a:rPr lang="en-US" altLang="en-US" sz="3200" dirty="0">
                <a:latin typeface="Arial" panose="020B0604020202020204" pitchFamily="34" charset="0"/>
                <a:cs typeface="Arial" panose="020B0604020202020204" pitchFamily="34" charset="0"/>
              </a:rPr>
              <a:t> </a:t>
            </a:r>
            <a:r>
              <a:rPr lang="en-US" altLang="en-US" sz="3200" b="1" dirty="0">
                <a:latin typeface="Arial" panose="020B0604020202020204" pitchFamily="34" charset="0"/>
                <a:cs typeface="Arial" panose="020B0604020202020204" pitchFamily="34" charset="0"/>
              </a:rPr>
              <a:t>Human Subjects </a:t>
            </a:r>
            <a:br>
              <a:rPr lang="en-US" altLang="en-US" sz="3200" b="1" dirty="0">
                <a:latin typeface="Arial" panose="020B0604020202020204" pitchFamily="34" charset="0"/>
                <a:cs typeface="Arial" panose="020B0604020202020204" pitchFamily="34" charset="0"/>
              </a:rPr>
            </a:br>
            <a:r>
              <a:rPr lang="en-US" altLang="en-US" sz="3200" b="1" dirty="0">
                <a:latin typeface="Arial" panose="020B0604020202020204" pitchFamily="34" charset="0"/>
                <a:cs typeface="Arial" panose="020B0604020202020204" pitchFamily="34" charset="0"/>
              </a:rPr>
              <a:t>Protections Training/COI</a:t>
            </a:r>
            <a:br>
              <a:rPr lang="en-US" altLang="en-US" sz="3200" dirty="0">
                <a:latin typeface="Arial" panose="020B0604020202020204" pitchFamily="34" charset="0"/>
                <a:cs typeface="Arial" panose="020B0604020202020204" pitchFamily="34" charset="0"/>
              </a:rPr>
            </a:br>
            <a:r>
              <a:rPr lang="en-US" altLang="en-US" sz="2400" dirty="0">
                <a:latin typeface="Arial" panose="020B0604020202020204" pitchFamily="34" charset="0"/>
                <a:cs typeface="Arial" panose="020B0604020202020204" pitchFamily="34" charset="0"/>
              </a:rPr>
              <a:t>required of all study personnel “engaged” in the research  (having contact with subjects or access to identifiable dat</a:t>
            </a:r>
            <a:r>
              <a:rPr lang="en-US" altLang="en-US" sz="2400" dirty="0">
                <a:solidFill>
                  <a:schemeClr val="accent6">
                    <a:lumMod val="75000"/>
                  </a:schemeClr>
                </a:solidFill>
                <a:latin typeface="Arial" panose="020B0604020202020204" pitchFamily="34" charset="0"/>
                <a:cs typeface="Arial" panose="020B0604020202020204" pitchFamily="34" charset="0"/>
              </a:rPr>
              <a:t>a</a:t>
            </a:r>
            <a:r>
              <a:rPr lang="en-US" altLang="en-US" sz="2400" dirty="0">
                <a:latin typeface="Arial" panose="020B0604020202020204" pitchFamily="34" charset="0"/>
                <a:cs typeface="Arial" panose="020B0604020202020204" pitchFamily="34" charset="0"/>
              </a:rPr>
              <a:t>)</a:t>
            </a:r>
            <a:br>
              <a:rPr lang="en-US" altLang="en-US" sz="2400" dirty="0">
                <a:latin typeface="Arial" panose="020B0604020202020204" pitchFamily="34" charset="0"/>
                <a:cs typeface="Arial" panose="020B0604020202020204" pitchFamily="34" charset="0"/>
              </a:rPr>
            </a:br>
            <a:r>
              <a:rPr lang="en-US" altLang="en-US" sz="2400" dirty="0">
                <a:latin typeface="Arial" panose="020B0604020202020204" pitchFamily="34" charset="0"/>
                <a:cs typeface="Arial" panose="020B0604020202020204" pitchFamily="34" charset="0"/>
              </a:rPr>
              <a:t>available through RASCAL at </a:t>
            </a:r>
            <a:r>
              <a:rPr lang="en-US" altLang="en-US" sz="2400" b="1" dirty="0">
                <a:solidFill>
                  <a:srgbClr val="003399"/>
                </a:solidFill>
                <a:latin typeface="Arial" panose="020B0604020202020204" pitchFamily="34" charset="0"/>
                <a:cs typeface="Arial" panose="020B0604020202020204" pitchFamily="34" charset="0"/>
                <a:hlinkClick r:id="rId3"/>
              </a:rPr>
              <a:t>https://www.rascal.columbia.edu</a:t>
            </a:r>
            <a:r>
              <a:rPr lang="en-US" altLang="en-US" sz="2400" dirty="0">
                <a:solidFill>
                  <a:schemeClr val="accent2"/>
                </a:solidFill>
                <a:latin typeface="Arial" panose="020B0604020202020204" pitchFamily="34" charset="0"/>
                <a:cs typeface="Arial" panose="020B0604020202020204" pitchFamily="34" charset="0"/>
              </a:rPr>
              <a:t>.</a:t>
            </a:r>
            <a:r>
              <a:rPr lang="en-US" altLang="en-US" sz="2400" dirty="0">
                <a:latin typeface="Arial" panose="020B0604020202020204" pitchFamily="34" charset="0"/>
                <a:cs typeface="Arial" panose="020B0604020202020204" pitchFamily="34" charset="0"/>
              </a:rPr>
              <a:t> </a:t>
            </a:r>
            <a:br>
              <a:rPr lang="en-US" altLang="en-US" sz="2400" dirty="0">
                <a:latin typeface="+mn-lt"/>
              </a:rPr>
            </a:br>
            <a:r>
              <a:rPr lang="en-US" altLang="en-US" sz="2000" dirty="0">
                <a:solidFill>
                  <a:schemeClr val="accent2"/>
                </a:solidFill>
                <a:latin typeface="+mn-lt"/>
              </a:rPr>
              <a:t>.</a:t>
            </a:r>
            <a:r>
              <a:rPr lang="en-US" altLang="en-US" sz="2000" dirty="0">
                <a:latin typeface="+mn-lt"/>
              </a:rPr>
              <a:t> </a:t>
            </a:r>
            <a:br>
              <a:rPr lang="en-US" altLang="en-US" sz="2000" dirty="0">
                <a:latin typeface="+mn-lt"/>
              </a:rPr>
            </a:br>
            <a:endParaRPr lang="en-US" altLang="en-US" sz="2000" dirty="0">
              <a:latin typeface="+mn-lt"/>
            </a:endParaRPr>
          </a:p>
        </p:txBody>
      </p:sp>
      <p:sp>
        <p:nvSpPr>
          <p:cNvPr id="21508" name="Rectangle 3"/>
          <p:cNvSpPr>
            <a:spLocks noGrp="1" noChangeArrowheads="1"/>
          </p:cNvSpPr>
          <p:nvPr>
            <p:ph type="body" idx="1"/>
          </p:nvPr>
        </p:nvSpPr>
        <p:spPr>
          <a:xfrm>
            <a:off x="457200" y="3200400"/>
            <a:ext cx="8077200" cy="2743200"/>
          </a:xfrm>
        </p:spPr>
        <p:txBody>
          <a:bodyPr/>
          <a:lstStyle/>
          <a:p>
            <a:pPr eaLnBrk="1" hangingPunct="1">
              <a:defRPr/>
            </a:pPr>
            <a:r>
              <a:rPr lang="en-US" altLang="en-US" sz="2000" b="1" dirty="0">
                <a:latin typeface="Arial" panose="020B0604020202020204" pitchFamily="34" charset="0"/>
                <a:cs typeface="Arial" panose="020B0604020202020204" pitchFamily="34" charset="0"/>
              </a:rPr>
              <a:t>TC0087</a:t>
            </a:r>
            <a:r>
              <a:rPr lang="en-US" altLang="en-US" sz="2000" dirty="0">
                <a:latin typeface="Arial" panose="020B0604020202020204" pitchFamily="34" charset="0"/>
                <a:cs typeface="Arial" panose="020B0604020202020204" pitchFamily="34" charset="0"/>
              </a:rPr>
              <a:t> </a:t>
            </a:r>
            <a:r>
              <a:rPr lang="en-US" altLang="en-US" sz="2000" b="1" dirty="0">
                <a:latin typeface="Arial" panose="020B0604020202020204" pitchFamily="34" charset="0"/>
                <a:cs typeface="Arial" panose="020B0604020202020204" pitchFamily="34" charset="0"/>
              </a:rPr>
              <a:t>- Human Subjects Protection Training </a:t>
            </a:r>
          </a:p>
          <a:p>
            <a:pPr lvl="1" eaLnBrk="1" hangingPunct="1">
              <a:defRPr/>
            </a:pPr>
            <a:r>
              <a:rPr lang="en-US" altLang="en-US" sz="2000" b="1" dirty="0">
                <a:latin typeface="Arial" panose="020B0604020202020204" pitchFamily="34" charset="0"/>
                <a:cs typeface="Arial" panose="020B0604020202020204" pitchFamily="34" charset="0"/>
              </a:rPr>
              <a:t>“Research with Minors” </a:t>
            </a:r>
            <a:r>
              <a:rPr lang="en-US" altLang="en-US" sz="2000" dirty="0">
                <a:latin typeface="Arial" panose="020B0604020202020204" pitchFamily="34" charset="0"/>
                <a:cs typeface="Arial" panose="020B0604020202020204" pitchFamily="34" charset="0"/>
              </a:rPr>
              <a:t>training required for research involving children</a:t>
            </a:r>
          </a:p>
          <a:p>
            <a:pPr marL="457200" lvl="1" indent="0" eaLnBrk="1" hangingPunct="1">
              <a:buNone/>
              <a:defRPr/>
            </a:pPr>
            <a:endParaRPr lang="en-US" altLang="en-US" sz="2000" dirty="0">
              <a:latin typeface="Arial" panose="020B0604020202020204" pitchFamily="34" charset="0"/>
              <a:cs typeface="Arial" panose="020B0604020202020204" pitchFamily="34" charset="0"/>
            </a:endParaRPr>
          </a:p>
          <a:p>
            <a:pPr>
              <a:lnSpc>
                <a:spcPct val="90000"/>
              </a:lnSpc>
              <a:defRPr/>
            </a:pPr>
            <a:r>
              <a:rPr lang="en-US" altLang="en-US" sz="2000" b="1" dirty="0">
                <a:latin typeface="Arial" panose="020B0604020202020204" pitchFamily="34" charset="0"/>
                <a:cs typeface="Arial" panose="020B0604020202020204" pitchFamily="34" charset="0"/>
              </a:rPr>
              <a:t>Conflict of Interest (no training, just a form to complete):</a:t>
            </a:r>
          </a:p>
          <a:p>
            <a:pPr lvl="2">
              <a:lnSpc>
                <a:spcPct val="90000"/>
              </a:lnSpc>
              <a:defRPr/>
            </a:pPr>
            <a:r>
              <a:rPr lang="en-US" altLang="en-US" sz="2000" dirty="0">
                <a:latin typeface="Arial" panose="020B0604020202020204" pitchFamily="34" charset="0"/>
                <a:cs typeface="Arial" panose="020B0604020202020204" pitchFamily="34" charset="0"/>
              </a:rPr>
              <a:t>Annual Disclosure Form (all workforce)</a:t>
            </a:r>
          </a:p>
          <a:p>
            <a:pPr lvl="2">
              <a:lnSpc>
                <a:spcPct val="90000"/>
              </a:lnSpc>
              <a:defRPr/>
            </a:pPr>
            <a:r>
              <a:rPr lang="en-US" altLang="en-US" sz="2000" dirty="0">
                <a:latin typeface="Arial" panose="020B0604020202020204" pitchFamily="34" charset="0"/>
                <a:cs typeface="Arial" panose="020B0604020202020204" pitchFamily="34" charset="0"/>
              </a:rPr>
              <a:t>Protocol Specific</a:t>
            </a:r>
          </a:p>
          <a:p>
            <a:pPr eaLnBrk="1" hangingPunct="1">
              <a:defRPr/>
            </a:pPr>
            <a:endParaRPr lang="en-US" altLang="en-US" sz="2000" dirty="0"/>
          </a:p>
        </p:txBody>
      </p:sp>
      <p:sp>
        <p:nvSpPr>
          <p:cNvPr id="6" name="Slide Number Placeholder 5"/>
          <p:cNvSpPr>
            <a:spLocks noGrp="1"/>
          </p:cNvSpPr>
          <p:nvPr>
            <p:ph type="sldNum" sz="quarter" idx="11"/>
          </p:nvPr>
        </p:nvSpPr>
        <p:spPr/>
        <p:txBody>
          <a:bodyPr/>
          <a:lstStyle/>
          <a:p>
            <a:pPr>
              <a:defRPr/>
            </a:pPr>
            <a:fld id="{A1CA0F31-58C5-4F96-AC92-314FEBFDDABE}" type="slidenum">
              <a:rPr lang="en-US" smtClean="0"/>
              <a:pPr>
                <a:defRPr/>
              </a:pPr>
              <a:t>11</a:t>
            </a:fld>
            <a:endParaRPr lang="en-US" dirty="0"/>
          </a:p>
        </p:txBody>
      </p:sp>
    </p:spTree>
    <p:extLst>
      <p:ext uri="{BB962C8B-B14F-4D97-AF65-F5344CB8AC3E}">
        <p14:creationId xmlns:p14="http://schemas.microsoft.com/office/powerpoint/2010/main" val="1484723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How to apply for IRB approval</a:t>
            </a:r>
          </a:p>
        </p:txBody>
      </p:sp>
      <p:sp>
        <p:nvSpPr>
          <p:cNvPr id="3" name="Content Placeholder 2"/>
          <p:cNvSpPr>
            <a:spLocks noGrp="1"/>
          </p:cNvSpPr>
          <p:nvPr>
            <p:ph idx="1"/>
          </p:nvPr>
        </p:nvSpPr>
        <p:spPr/>
        <p:txBody>
          <a:bodyPr/>
          <a:lstStyle/>
          <a:p>
            <a:r>
              <a:rPr lang="en-US" sz="3000" dirty="0"/>
              <a:t>Rascal</a:t>
            </a:r>
          </a:p>
          <a:p>
            <a:pPr lvl="1"/>
            <a:r>
              <a:rPr lang="en-US" dirty="0"/>
              <a:t>Electronic based submission system </a:t>
            </a:r>
          </a:p>
          <a:p>
            <a:pPr lvl="1"/>
            <a:r>
              <a:rPr lang="en-US" dirty="0"/>
              <a:t>Access to training modules</a:t>
            </a:r>
          </a:p>
          <a:p>
            <a:pPr lvl="1"/>
            <a:r>
              <a:rPr lang="en-US" dirty="0"/>
              <a:t>Access to other compliance-based groups</a:t>
            </a:r>
          </a:p>
          <a:p>
            <a:pPr marL="457200" lvl="1" indent="0">
              <a:buNone/>
            </a:pPr>
            <a:endParaRPr lang="en-US" dirty="0"/>
          </a:p>
          <a:p>
            <a:r>
              <a:rPr lang="en-US" sz="3000" dirty="0"/>
              <a:t>Website: </a:t>
            </a:r>
            <a:r>
              <a:rPr lang="en-US" sz="3000" dirty="0">
                <a:hlinkClick r:id="rId3"/>
              </a:rPr>
              <a:t>https://rascal.columbia.edu</a:t>
            </a:r>
            <a:endParaRPr lang="en-US" sz="3000" dirty="0"/>
          </a:p>
          <a:p>
            <a:r>
              <a:rPr lang="en-US" sz="3000" dirty="0"/>
              <a:t>Rascal Help: </a:t>
            </a:r>
            <a:r>
              <a:rPr lang="en-US" sz="2800" dirty="0"/>
              <a:t>212.851.0213</a:t>
            </a:r>
          </a:p>
          <a:p>
            <a:pPr lvl="1"/>
            <a:endParaRPr lang="en-US" dirty="0"/>
          </a:p>
          <a:p>
            <a:pPr lvl="1"/>
            <a:endParaRPr lang="en-US" dirty="0"/>
          </a:p>
          <a:p>
            <a:endParaRPr lang="en-US" dirty="0"/>
          </a:p>
        </p:txBody>
      </p:sp>
    </p:spTree>
    <p:extLst>
      <p:ext uri="{BB962C8B-B14F-4D97-AF65-F5344CB8AC3E}">
        <p14:creationId xmlns:p14="http://schemas.microsoft.com/office/powerpoint/2010/main" val="1108403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FADFC-6278-0C55-1B3D-6B21FA85441B}"/>
              </a:ext>
            </a:extLst>
          </p:cNvPr>
          <p:cNvSpPr>
            <a:spLocks noGrp="1"/>
          </p:cNvSpPr>
          <p:nvPr>
            <p:ph type="title"/>
          </p:nvPr>
        </p:nvSpPr>
        <p:spPr/>
        <p:txBody>
          <a:bodyPr/>
          <a:lstStyle/>
          <a:p>
            <a:r>
              <a:rPr lang="en-US" dirty="0"/>
              <a:t>Support</a:t>
            </a:r>
          </a:p>
        </p:txBody>
      </p:sp>
      <p:sp>
        <p:nvSpPr>
          <p:cNvPr id="3" name="Content Placeholder 2">
            <a:extLst>
              <a:ext uri="{FF2B5EF4-FFF2-40B4-BE49-F238E27FC236}">
                <a16:creationId xmlns:a16="http://schemas.microsoft.com/office/drawing/2014/main" id="{D6ECA678-8E74-3700-83E6-C4742E7F3AF6}"/>
              </a:ext>
            </a:extLst>
          </p:cNvPr>
          <p:cNvSpPr>
            <a:spLocks noGrp="1"/>
          </p:cNvSpPr>
          <p:nvPr>
            <p:ph idx="1"/>
          </p:nvPr>
        </p:nvSpPr>
        <p:spPr/>
        <p:txBody>
          <a:bodyPr/>
          <a:lstStyle/>
          <a:p>
            <a:r>
              <a:rPr lang="en-US" sz="2000" dirty="0">
                <a:solidFill>
                  <a:srgbClr val="0070C0"/>
                </a:solidFill>
              </a:rPr>
              <a:t>PLAN AHEAD! Consult with your advisor and consider whether your research topic involves human subjects. Do the training. Start the application in Rascal.</a:t>
            </a:r>
          </a:p>
          <a:p>
            <a:endParaRPr lang="en-US" sz="2000" dirty="0"/>
          </a:p>
          <a:p>
            <a:r>
              <a:rPr lang="en-US" sz="2000" dirty="0">
                <a:solidFill>
                  <a:srgbClr val="0070C0"/>
                </a:solidFill>
              </a:rPr>
              <a:t>Consultation services provided by HRPO staff</a:t>
            </a:r>
          </a:p>
          <a:p>
            <a:r>
              <a:rPr lang="en-US" sz="2000" dirty="0"/>
              <a:t>IRB Contact: 212.305.5883 (general line)</a:t>
            </a:r>
          </a:p>
          <a:p>
            <a:r>
              <a:rPr lang="en-US" sz="2000" dirty="0"/>
              <a:t>Email Inquiry &amp; Morningside HRPO consultation service: askirb@columbia.edu (best way to contact us)</a:t>
            </a:r>
          </a:p>
          <a:p>
            <a:endParaRPr lang="en-US" sz="2000" dirty="0"/>
          </a:p>
          <a:p>
            <a:r>
              <a:rPr lang="en-US" sz="2000" dirty="0">
                <a:solidFill>
                  <a:srgbClr val="0070C0"/>
                </a:solidFill>
              </a:rPr>
              <a:t>Rascal assistance (technical support only)</a:t>
            </a:r>
          </a:p>
          <a:p>
            <a:r>
              <a:rPr lang="en-US" sz="2000" dirty="0"/>
              <a:t>Email Inquiry: rascal@columbia.edu</a:t>
            </a:r>
          </a:p>
          <a:p>
            <a:r>
              <a:rPr lang="en-US" sz="2000" dirty="0"/>
              <a:t>Phone Inquiry: 212-851-2351</a:t>
            </a:r>
          </a:p>
          <a:p>
            <a:endParaRPr lang="en-US" dirty="0"/>
          </a:p>
        </p:txBody>
      </p:sp>
    </p:spTree>
    <p:extLst>
      <p:ext uri="{BB962C8B-B14F-4D97-AF65-F5344CB8AC3E}">
        <p14:creationId xmlns:p14="http://schemas.microsoft.com/office/powerpoint/2010/main" val="291498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175F-A720-B539-A5CE-FD339157E3A6}"/>
              </a:ext>
            </a:extLst>
          </p:cNvPr>
          <p:cNvSpPr>
            <a:spLocks noGrp="1"/>
          </p:cNvSpPr>
          <p:nvPr>
            <p:ph type="title"/>
          </p:nvPr>
        </p:nvSpPr>
        <p:spPr/>
        <p:txBody>
          <a:bodyPr/>
          <a:lstStyle/>
          <a:p>
            <a:r>
              <a:rPr lang="en-US" dirty="0"/>
              <a:t>Brief demo of Rascal</a:t>
            </a:r>
          </a:p>
        </p:txBody>
      </p:sp>
      <p:sp>
        <p:nvSpPr>
          <p:cNvPr id="3" name="Content Placeholder 2">
            <a:extLst>
              <a:ext uri="{FF2B5EF4-FFF2-40B4-BE49-F238E27FC236}">
                <a16:creationId xmlns:a16="http://schemas.microsoft.com/office/drawing/2014/main" id="{778BC2C5-F704-4E3F-8BE7-C9B4BBF186D8}"/>
              </a:ext>
            </a:extLst>
          </p:cNvPr>
          <p:cNvSpPr>
            <a:spLocks noGrp="1"/>
          </p:cNvSpPr>
          <p:nvPr>
            <p:ph idx="1"/>
          </p:nvPr>
        </p:nvSpPr>
        <p:spPr/>
        <p:txBody>
          <a:bodyPr/>
          <a:lstStyle/>
          <a:p>
            <a:r>
              <a:rPr lang="en-US" dirty="0">
                <a:hlinkClick r:id="rId2"/>
              </a:rPr>
              <a:t>https://www.rascal.columbia.edu/irb</a:t>
            </a:r>
            <a:endParaRPr lang="en-US" dirty="0"/>
          </a:p>
          <a:p>
            <a:r>
              <a:rPr lang="en-US" dirty="0"/>
              <a:t>	Training Center </a:t>
            </a:r>
          </a:p>
          <a:p>
            <a:r>
              <a:rPr lang="en-US" dirty="0"/>
              <a:t>      Conflict of Interest Form</a:t>
            </a:r>
          </a:p>
          <a:p>
            <a:r>
              <a:rPr lang="en-US" dirty="0"/>
              <a:t>      IRB application</a:t>
            </a:r>
          </a:p>
          <a:p>
            <a:pPr marL="0" indent="0">
              <a:buNone/>
            </a:pPr>
            <a:r>
              <a:rPr lang="en-US" sz="2400" dirty="0">
                <a:solidFill>
                  <a:srgbClr val="0070C0"/>
                </a:solidFill>
              </a:rPr>
              <a:t>*Note: Before requesting a consultation, we encourage researchers to begin an application in Rascal. Finish as much of the application as you can and collect questions.</a:t>
            </a:r>
          </a:p>
          <a:p>
            <a:pPr marL="0" indent="0">
              <a:buNone/>
            </a:pPr>
            <a:endParaRPr lang="en-US" sz="2400" dirty="0">
              <a:solidFill>
                <a:srgbClr val="0070C0"/>
              </a:solidFill>
            </a:endParaRPr>
          </a:p>
          <a:p>
            <a:pPr marL="0" indent="0">
              <a:buNone/>
            </a:pPr>
            <a:r>
              <a:rPr lang="en-US" sz="1800" dirty="0">
                <a:solidFill>
                  <a:srgbClr val="0070C0"/>
                </a:solidFill>
              </a:rPr>
              <a:t>Department number in application: ARH Urban Planning 5010302</a:t>
            </a:r>
          </a:p>
        </p:txBody>
      </p:sp>
    </p:spTree>
    <p:extLst>
      <p:ext uri="{BB962C8B-B14F-4D97-AF65-F5344CB8AC3E}">
        <p14:creationId xmlns:p14="http://schemas.microsoft.com/office/powerpoint/2010/main" val="237357328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2010920-23c3-4bf0-932e-e9de47f5b964" xsi:nil="true"/>
    <lcf76f155ced4ddcb4097134ff3c332f xmlns="6b06cf56-cf9d-4ae3-96da-aaffff781c7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E7ADA8BA9E1D648870B50C2FDB5C23E" ma:contentTypeVersion="17" ma:contentTypeDescription="Create a new document." ma:contentTypeScope="" ma:versionID="73e46cb41290b2f3360fdb7cfdcf0b84">
  <xsd:schema xmlns:xsd="http://www.w3.org/2001/XMLSchema" xmlns:xs="http://www.w3.org/2001/XMLSchema" xmlns:p="http://schemas.microsoft.com/office/2006/metadata/properties" xmlns:ns2="6b06cf56-cf9d-4ae3-96da-aaffff781c72" xmlns:ns3="e2010920-23c3-4bf0-932e-e9de47f5b964" targetNamespace="http://schemas.microsoft.com/office/2006/metadata/properties" ma:root="true" ma:fieldsID="3551b657ef18520482321bb696b92c1c" ns2:_="" ns3:_="">
    <xsd:import namespace="6b06cf56-cf9d-4ae3-96da-aaffff781c72"/>
    <xsd:import namespace="e2010920-23c3-4bf0-932e-e9de47f5b96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SearchPropertie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06cf56-cf9d-4ae3-96da-aaffff781c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c08985e1-58d1-4979-a29a-a67426b5439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2010920-23c3-4bf0-932e-e9de47f5b96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6673532d-b02a-460b-a2eb-02b2d775d609}" ma:internalName="TaxCatchAll" ma:showField="CatchAllData" ma:web="e2010920-23c3-4bf0-932e-e9de47f5b96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9C70B1-5F82-43F5-B8A5-274C65BBA08D}">
  <ds:schemaRefs>
    <ds:schemaRef ds:uri="6b06cf56-cf9d-4ae3-96da-aaffff781c72"/>
    <ds:schemaRef ds:uri="http://www.w3.org/XML/1998/namespace"/>
    <ds:schemaRef ds:uri="http://purl.org/dc/terms/"/>
    <ds:schemaRef ds:uri="http://schemas.microsoft.com/office/2006/documentManagement/types"/>
    <ds:schemaRef ds:uri="e2010920-23c3-4bf0-932e-e9de47f5b964"/>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0A742926-0BE1-4106-B1E9-1D9DBA5F5A84}">
  <ds:schemaRefs>
    <ds:schemaRef ds:uri="http://schemas.microsoft.com/sharepoint/v3/contenttype/forms"/>
  </ds:schemaRefs>
</ds:datastoreItem>
</file>

<file path=customXml/itemProps3.xml><?xml version="1.0" encoding="utf-8"?>
<ds:datastoreItem xmlns:ds="http://schemas.openxmlformats.org/officeDocument/2006/customXml" ds:itemID="{B331CD71-E7F5-4DEA-B5B9-C4A8AE3924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06cf56-cf9d-4ae3-96da-aaffff781c72"/>
    <ds:schemaRef ds:uri="e2010920-23c3-4bf0-932e-e9de47f5b9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7666</TotalTime>
  <Words>1152</Words>
  <Application>Microsoft Office PowerPoint</Application>
  <PresentationFormat>On-screen Show (4:3)</PresentationFormat>
  <Paragraphs>117</Paragraphs>
  <Slides>14</Slides>
  <Notes>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Bookman Old Style</vt:lpstr>
      <vt:lpstr>Calibri</vt:lpstr>
      <vt:lpstr>Courier New</vt:lpstr>
      <vt:lpstr>Georgia</vt:lpstr>
      <vt:lpstr>Wingdings</vt:lpstr>
      <vt:lpstr>Default Design</vt:lpstr>
      <vt:lpstr>Custom Design</vt:lpstr>
      <vt:lpstr>Human Subjects Research Overview: HRPO/IRB</vt:lpstr>
      <vt:lpstr>What is the HRPO?</vt:lpstr>
      <vt:lpstr>IRB = Institutional Review Board</vt:lpstr>
      <vt:lpstr>   What is human subjects research? Things to consider:</vt:lpstr>
      <vt:lpstr>Does the Research Activity Involve Human Subjects? </vt:lpstr>
      <vt:lpstr>Applying Ethical Principles</vt:lpstr>
      <vt:lpstr>Levels of IRB Review </vt:lpstr>
      <vt:lpstr>Principal Investigator</vt:lpstr>
      <vt:lpstr>Additional Documentation</vt:lpstr>
      <vt:lpstr>Additional Documentation (cont’d)   </vt:lpstr>
      <vt:lpstr>  Rascal Human Subjects  Protections Training/COI required of all study personnel “engaged” in the research  (having contact with subjects or access to identifiable data) available through RASCAL at https://www.rascal.columbia.edu.  .  </vt:lpstr>
      <vt:lpstr>How to apply for IRB approval</vt:lpstr>
      <vt:lpstr>Support</vt:lpstr>
      <vt:lpstr>Brief demo of Rascal</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ABCs of the IRB</dc:title>
  <dc:creator>Joyce Plaza</dc:creator>
  <cp:lastModifiedBy>Barry, Annie</cp:lastModifiedBy>
  <cp:revision>685</cp:revision>
  <cp:lastPrinted>2017-08-30T16:10:34Z</cp:lastPrinted>
  <dcterms:created xsi:type="dcterms:W3CDTF">2005-09-19T20:08:56Z</dcterms:created>
  <dcterms:modified xsi:type="dcterms:W3CDTF">2025-10-03T19:40:42Z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0x0101006E7ADA8BA9E1D648870B50C2FDB5C23E</vt:lpwstr>
  </property>
</Properties>
</file>